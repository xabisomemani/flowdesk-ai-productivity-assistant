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5" d="100"/>
          <a:sy n="65" d="100"/>
        </p:scale>
        <p:origin x="1107" y="7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8622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EFE9"/>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E97132">
              <a:alpha val="12000"/>
            </a:srgbClr>
          </a:solidFill>
          <a:ln/>
        </p:spPr>
        <p:txBody>
          <a:bodyPr/>
          <a:lstStyle/>
          <a:p>
            <a:endParaRPr lang="en-US"/>
          </a:p>
        </p:txBody>
      </p:sp>
      <p:sp>
        <p:nvSpPr>
          <p:cNvPr id="3" name="Shape 1"/>
          <p:cNvSpPr/>
          <p:nvPr/>
        </p:nvSpPr>
        <p:spPr>
          <a:xfrm>
            <a:off x="10698480" y="4297680"/>
            <a:ext cx="1920240" cy="1920240"/>
          </a:xfrm>
          <a:prstGeom prst="ellipse">
            <a:avLst/>
          </a:prstGeom>
          <a:solidFill>
            <a:srgbClr val="E97132">
              <a:alpha val="18000"/>
            </a:srgbClr>
          </a:solidFill>
          <a:ln/>
        </p:spPr>
        <p:txBody>
          <a:bodyPr/>
          <a:lstStyle/>
          <a:p>
            <a:endParaRPr lang="en-US"/>
          </a:p>
        </p:txBody>
      </p:sp>
      <p:sp>
        <p:nvSpPr>
          <p:cNvPr id="4" name="Text 2"/>
          <p:cNvSpPr/>
          <p:nvPr/>
        </p:nvSpPr>
        <p:spPr>
          <a:xfrm>
            <a:off x="822960" y="2331720"/>
            <a:ext cx="9144000" cy="914400"/>
          </a:xfrm>
          <a:prstGeom prst="rect">
            <a:avLst/>
          </a:prstGeom>
          <a:noFill/>
          <a:ln/>
        </p:spPr>
        <p:txBody>
          <a:bodyPr wrap="square" lIns="0" tIns="0" rIns="0" bIns="0" rtlCol="0" anchor="ctr"/>
          <a:lstStyle/>
          <a:p>
            <a:pPr marL="0" indent="0">
              <a:buNone/>
            </a:pPr>
            <a:r>
              <a:rPr lang="en-US" sz="5400" b="1" dirty="0">
                <a:solidFill>
                  <a:srgbClr val="2B241F"/>
                </a:solidFill>
                <a:latin typeface="Calibri" pitchFamily="34" charset="0"/>
                <a:ea typeface="Calibri" pitchFamily="34" charset="-122"/>
                <a:cs typeface="Calibri" pitchFamily="34" charset="-120"/>
              </a:rPr>
              <a:t>FLOWDESK</a:t>
            </a:r>
            <a:endParaRPr lang="en-US" sz="5400" dirty="0"/>
          </a:p>
        </p:txBody>
      </p:sp>
      <p:sp>
        <p:nvSpPr>
          <p:cNvPr id="5" name="Text 3"/>
          <p:cNvSpPr/>
          <p:nvPr/>
        </p:nvSpPr>
        <p:spPr>
          <a:xfrm>
            <a:off x="868680" y="3246120"/>
            <a:ext cx="8229600" cy="457200"/>
          </a:xfrm>
          <a:prstGeom prst="rect">
            <a:avLst/>
          </a:prstGeom>
          <a:noFill/>
          <a:ln/>
        </p:spPr>
        <p:txBody>
          <a:bodyPr wrap="square" lIns="0" tIns="0" rIns="0" bIns="0" rtlCol="0" anchor="ctr"/>
          <a:lstStyle/>
          <a:p>
            <a:pPr marL="0" indent="0">
              <a:buNone/>
            </a:pPr>
            <a:r>
              <a:rPr lang="en-US" sz="2000" dirty="0">
                <a:solidFill>
                  <a:srgbClr val="C25A1E"/>
                </a:solidFill>
                <a:latin typeface="Calibri" pitchFamily="34" charset="0"/>
                <a:ea typeface="Calibri" pitchFamily="34" charset="-122"/>
                <a:cs typeface="Calibri" pitchFamily="34" charset="-120"/>
              </a:rPr>
              <a:t>AI-Powered Workplace Productivity Assistant</a:t>
            </a:r>
            <a:endParaRPr lang="en-US" sz="2000" dirty="0"/>
          </a:p>
        </p:txBody>
      </p:sp>
      <p:sp>
        <p:nvSpPr>
          <p:cNvPr id="6" name="Text 4"/>
          <p:cNvSpPr/>
          <p:nvPr/>
        </p:nvSpPr>
        <p:spPr>
          <a:xfrm>
            <a:off x="868680" y="5943600"/>
            <a:ext cx="8229600" cy="365760"/>
          </a:xfrm>
          <a:prstGeom prst="rect">
            <a:avLst/>
          </a:prstGeom>
          <a:noFill/>
          <a:ln/>
        </p:spPr>
        <p:txBody>
          <a:bodyPr wrap="square" lIns="0" tIns="0" rIns="0" bIns="0" rtlCol="0" anchor="ctr"/>
          <a:lstStyle/>
          <a:p>
            <a:pPr marL="0" indent="0">
              <a:buNone/>
            </a:pPr>
            <a:r>
              <a:rPr lang="en-US" sz="1300" dirty="0">
                <a:solidFill>
                  <a:srgbClr val="8C8378"/>
                </a:solidFill>
                <a:latin typeface="Calibri" pitchFamily="34" charset="0"/>
                <a:ea typeface="Calibri" pitchFamily="34" charset="-122"/>
                <a:cs typeface="Calibri" pitchFamily="34" charset="-120"/>
              </a:rPr>
              <a:t>CAPACITI AI Skills Acceleration Programme  |  Prepared by Xabiso Memani</a:t>
            </a:r>
            <a:endParaRPr lang="en-US" sz="1300" dirty="0"/>
          </a:p>
        </p:txBody>
      </p:sp>
      <p:sp>
        <p:nvSpPr>
          <p:cNvPr id="8" name="Text 6"/>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00" dirty="0">
                <a:solidFill>
                  <a:srgbClr val="8C837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lIns="0" tIns="0" rIns="0" bIns="0" rtlCol="0" anchor="ctr"/>
          <a:lstStyle/>
          <a:p>
            <a:pPr marL="0" indent="0">
              <a:buNone/>
            </a:pPr>
            <a:r>
              <a:rPr lang="en-US" sz="3000" b="1" dirty="0">
                <a:solidFill>
                  <a:srgbClr val="2B241F"/>
                </a:solidFill>
                <a:latin typeface="Calibri" pitchFamily="34" charset="0"/>
                <a:ea typeface="Calibri" pitchFamily="34" charset="-122"/>
                <a:cs typeface="Calibri" pitchFamily="34" charset="-120"/>
              </a:rPr>
              <a:t>Problem Statement</a:t>
            </a:r>
            <a:endParaRPr lang="en-US" sz="3000" dirty="0"/>
          </a:p>
        </p:txBody>
      </p:sp>
      <p:sp>
        <p:nvSpPr>
          <p:cNvPr id="3" name="Text 1"/>
          <p:cNvSpPr/>
          <p:nvPr/>
        </p:nvSpPr>
        <p:spPr>
          <a:xfrm>
            <a:off x="548640" y="1280160"/>
            <a:ext cx="5577840" cy="1828800"/>
          </a:xfrm>
          <a:prstGeom prst="rect">
            <a:avLst/>
          </a:prstGeom>
          <a:noFill/>
          <a:ln/>
        </p:spPr>
        <p:txBody>
          <a:bodyPr wrap="square" lIns="0" tIns="0" rIns="0" bIns="0" rtlCol="0" anchor="ctr"/>
          <a:lstStyle/>
          <a:p>
            <a:pPr marL="0" indent="0">
              <a:lnSpc>
                <a:spcPct val="130000"/>
              </a:lnSpc>
              <a:buNone/>
            </a:pPr>
            <a:r>
              <a:rPr lang="en-US" sz="1500" dirty="0">
                <a:solidFill>
                  <a:srgbClr val="2B241F"/>
                </a:solidFill>
                <a:latin typeface="Calibri" pitchFamily="34" charset="0"/>
                <a:ea typeface="Calibri" pitchFamily="34" charset="-122"/>
                <a:cs typeface="Calibri" pitchFamily="34" charset="-120"/>
              </a:rPr>
              <a:t>Professionals spend significant time each week on repetitive tasks such as drafting emails, planning their workload and researching information. This slows down productivity and takes focus away from higher value work.</a:t>
            </a:r>
            <a:endParaRPr lang="en-US" sz="1500" dirty="0"/>
          </a:p>
        </p:txBody>
      </p:sp>
      <p:sp>
        <p:nvSpPr>
          <p:cNvPr id="4" name="Text 2"/>
          <p:cNvSpPr/>
          <p:nvPr/>
        </p:nvSpPr>
        <p:spPr>
          <a:xfrm>
            <a:off x="548640" y="3200400"/>
            <a:ext cx="5577840" cy="1463040"/>
          </a:xfrm>
          <a:prstGeom prst="rect">
            <a:avLst/>
          </a:prstGeom>
          <a:noFill/>
          <a:ln/>
        </p:spPr>
        <p:txBody>
          <a:bodyPr wrap="square" lIns="0" tIns="0" rIns="0" bIns="0" rtlCol="0" anchor="ctr"/>
          <a:lstStyle/>
          <a:p>
            <a:pPr marL="0" indent="0">
              <a:lnSpc>
                <a:spcPct val="130000"/>
              </a:lnSpc>
              <a:buNone/>
            </a:pPr>
            <a:r>
              <a:rPr lang="en-US" sz="1500" dirty="0">
                <a:solidFill>
                  <a:srgbClr val="2B241F"/>
                </a:solidFill>
                <a:latin typeface="Calibri" pitchFamily="34" charset="0"/>
                <a:ea typeface="Calibri" pitchFamily="34" charset="-122"/>
                <a:cs typeface="Calibri" pitchFamily="34" charset="-120"/>
              </a:rPr>
              <a:t>As a software development intern juggling client projects, internship deliverables and an active job search, this problem is personal, not theoretical. Flowdesk was built to directly reduce that daily overhead.</a:t>
            </a:r>
            <a:endParaRPr lang="en-US" sz="1500" dirty="0"/>
          </a:p>
        </p:txBody>
      </p:sp>
      <p:sp>
        <p:nvSpPr>
          <p:cNvPr id="5" name="Shape 3"/>
          <p:cNvSpPr/>
          <p:nvPr/>
        </p:nvSpPr>
        <p:spPr>
          <a:xfrm>
            <a:off x="6492240" y="1280160"/>
            <a:ext cx="5120640" cy="1417320"/>
          </a:xfrm>
          <a:prstGeom prst="roundRect">
            <a:avLst>
              <a:gd name="adj" fmla="val 5161"/>
            </a:avLst>
          </a:prstGeom>
          <a:solidFill>
            <a:srgbClr val="F4EFE9"/>
          </a:solidFill>
          <a:ln/>
        </p:spPr>
        <p:txBody>
          <a:bodyPr/>
          <a:lstStyle/>
          <a:p>
            <a:endParaRPr lang="en-US"/>
          </a:p>
        </p:txBody>
      </p:sp>
      <p:sp>
        <p:nvSpPr>
          <p:cNvPr id="6" name="Shape 4"/>
          <p:cNvSpPr/>
          <p:nvPr/>
        </p:nvSpPr>
        <p:spPr>
          <a:xfrm>
            <a:off x="6720840" y="1508760"/>
            <a:ext cx="128016" cy="128016"/>
          </a:xfrm>
          <a:prstGeom prst="roundRect">
            <a:avLst>
              <a:gd name="adj" fmla="val 50000"/>
            </a:avLst>
          </a:prstGeom>
          <a:solidFill>
            <a:srgbClr val="E97132"/>
          </a:solidFill>
          <a:ln/>
        </p:spPr>
        <p:txBody>
          <a:bodyPr/>
          <a:lstStyle/>
          <a:p>
            <a:endParaRPr lang="en-US"/>
          </a:p>
        </p:txBody>
      </p:sp>
      <p:sp>
        <p:nvSpPr>
          <p:cNvPr id="7" name="Text 5"/>
          <p:cNvSpPr/>
          <p:nvPr/>
        </p:nvSpPr>
        <p:spPr>
          <a:xfrm>
            <a:off x="6995160" y="1417320"/>
            <a:ext cx="4480560" cy="320040"/>
          </a:xfrm>
          <a:prstGeom prst="rect">
            <a:avLst/>
          </a:prstGeom>
          <a:noFill/>
          <a:ln/>
        </p:spPr>
        <p:txBody>
          <a:bodyPr wrap="square" lIns="0" tIns="0" rIns="0" bIns="0" rtlCol="0" anchor="ctr"/>
          <a:lstStyle/>
          <a:p>
            <a:pPr marL="0" indent="0">
              <a:buNone/>
            </a:pPr>
            <a:r>
              <a:rPr lang="en-US" sz="1500" b="1" dirty="0">
                <a:solidFill>
                  <a:srgbClr val="2B241F"/>
                </a:solidFill>
                <a:latin typeface="Calibri" pitchFamily="34" charset="0"/>
                <a:ea typeface="Calibri" pitchFamily="34" charset="-122"/>
                <a:cs typeface="Calibri" pitchFamily="34" charset="-120"/>
              </a:rPr>
              <a:t>Email drafting</a:t>
            </a:r>
            <a:endParaRPr lang="en-US" sz="1500" dirty="0"/>
          </a:p>
        </p:txBody>
      </p:sp>
      <p:sp>
        <p:nvSpPr>
          <p:cNvPr id="8" name="Text 6"/>
          <p:cNvSpPr/>
          <p:nvPr/>
        </p:nvSpPr>
        <p:spPr>
          <a:xfrm>
            <a:off x="6995160" y="1783080"/>
            <a:ext cx="4389120" cy="777240"/>
          </a:xfrm>
          <a:prstGeom prst="rect">
            <a:avLst/>
          </a:prstGeom>
          <a:noFill/>
          <a:ln/>
        </p:spPr>
        <p:txBody>
          <a:bodyPr wrap="square" lIns="0" tIns="0" rIns="0" bIns="0" rtlCol="0" anchor="ctr"/>
          <a:lstStyle/>
          <a:p>
            <a:pPr marL="0" indent="0">
              <a:lnSpc>
                <a:spcPct val="120000"/>
              </a:lnSpc>
              <a:buNone/>
            </a:pPr>
            <a:r>
              <a:rPr lang="en-US" sz="1200" dirty="0">
                <a:solidFill>
                  <a:srgbClr val="8C8378"/>
                </a:solidFill>
                <a:latin typeface="Calibri" pitchFamily="34" charset="0"/>
                <a:ea typeface="Calibri" pitchFamily="34" charset="-122"/>
                <a:cs typeface="Calibri" pitchFamily="34" charset="-120"/>
              </a:rPr>
              <a:t>Cover letters, follow ups and client emails take time to get right</a:t>
            </a:r>
            <a:endParaRPr lang="en-US" sz="1200" dirty="0"/>
          </a:p>
        </p:txBody>
      </p:sp>
      <p:sp>
        <p:nvSpPr>
          <p:cNvPr id="9" name="Shape 7"/>
          <p:cNvSpPr/>
          <p:nvPr/>
        </p:nvSpPr>
        <p:spPr>
          <a:xfrm>
            <a:off x="6492240" y="2880360"/>
            <a:ext cx="5120640" cy="1417320"/>
          </a:xfrm>
          <a:prstGeom prst="roundRect">
            <a:avLst>
              <a:gd name="adj" fmla="val 5161"/>
            </a:avLst>
          </a:prstGeom>
          <a:solidFill>
            <a:srgbClr val="F4EFE9"/>
          </a:solidFill>
          <a:ln/>
        </p:spPr>
        <p:txBody>
          <a:bodyPr/>
          <a:lstStyle/>
          <a:p>
            <a:endParaRPr lang="en-US"/>
          </a:p>
        </p:txBody>
      </p:sp>
      <p:sp>
        <p:nvSpPr>
          <p:cNvPr id="10" name="Shape 8"/>
          <p:cNvSpPr/>
          <p:nvPr/>
        </p:nvSpPr>
        <p:spPr>
          <a:xfrm>
            <a:off x="6720840" y="3108960"/>
            <a:ext cx="128016" cy="128016"/>
          </a:xfrm>
          <a:prstGeom prst="roundRect">
            <a:avLst>
              <a:gd name="adj" fmla="val 50000"/>
            </a:avLst>
          </a:prstGeom>
          <a:solidFill>
            <a:srgbClr val="E97132"/>
          </a:solidFill>
          <a:ln/>
        </p:spPr>
        <p:txBody>
          <a:bodyPr/>
          <a:lstStyle/>
          <a:p>
            <a:endParaRPr lang="en-US"/>
          </a:p>
        </p:txBody>
      </p:sp>
      <p:sp>
        <p:nvSpPr>
          <p:cNvPr id="11" name="Text 9"/>
          <p:cNvSpPr/>
          <p:nvPr/>
        </p:nvSpPr>
        <p:spPr>
          <a:xfrm>
            <a:off x="6995160" y="3017520"/>
            <a:ext cx="4480560" cy="320040"/>
          </a:xfrm>
          <a:prstGeom prst="rect">
            <a:avLst/>
          </a:prstGeom>
          <a:noFill/>
          <a:ln/>
        </p:spPr>
        <p:txBody>
          <a:bodyPr wrap="square" lIns="0" tIns="0" rIns="0" bIns="0" rtlCol="0" anchor="ctr"/>
          <a:lstStyle/>
          <a:p>
            <a:pPr marL="0" indent="0">
              <a:buNone/>
            </a:pPr>
            <a:r>
              <a:rPr lang="en-US" sz="1500" b="1" dirty="0">
                <a:solidFill>
                  <a:srgbClr val="2B241F"/>
                </a:solidFill>
                <a:latin typeface="Calibri" pitchFamily="34" charset="0"/>
                <a:ea typeface="Calibri" pitchFamily="34" charset="-122"/>
                <a:cs typeface="Calibri" pitchFamily="34" charset="-120"/>
              </a:rPr>
              <a:t>Task overload</a:t>
            </a:r>
            <a:endParaRPr lang="en-US" sz="1500" dirty="0"/>
          </a:p>
        </p:txBody>
      </p:sp>
      <p:sp>
        <p:nvSpPr>
          <p:cNvPr id="12" name="Text 10"/>
          <p:cNvSpPr/>
          <p:nvPr/>
        </p:nvSpPr>
        <p:spPr>
          <a:xfrm>
            <a:off x="6995160" y="3383280"/>
            <a:ext cx="4389120" cy="777240"/>
          </a:xfrm>
          <a:prstGeom prst="rect">
            <a:avLst/>
          </a:prstGeom>
          <a:noFill/>
          <a:ln/>
        </p:spPr>
        <p:txBody>
          <a:bodyPr wrap="square" lIns="0" tIns="0" rIns="0" bIns="0" rtlCol="0" anchor="ctr"/>
          <a:lstStyle/>
          <a:p>
            <a:pPr marL="0" indent="0">
              <a:lnSpc>
                <a:spcPct val="120000"/>
              </a:lnSpc>
              <a:buNone/>
            </a:pPr>
            <a:r>
              <a:rPr lang="en-US" sz="1200" dirty="0">
                <a:solidFill>
                  <a:srgbClr val="8C8378"/>
                </a:solidFill>
                <a:latin typeface="Calibri" pitchFamily="34" charset="0"/>
                <a:ea typeface="Calibri" pitchFamily="34" charset="-122"/>
                <a:cs typeface="Calibri" pitchFamily="34" charset="-120"/>
              </a:rPr>
              <a:t>Internship, client work and job applications compete for the same hours</a:t>
            </a:r>
            <a:endParaRPr lang="en-US" sz="1200" dirty="0"/>
          </a:p>
        </p:txBody>
      </p:sp>
      <p:sp>
        <p:nvSpPr>
          <p:cNvPr id="13" name="Shape 11"/>
          <p:cNvSpPr/>
          <p:nvPr/>
        </p:nvSpPr>
        <p:spPr>
          <a:xfrm>
            <a:off x="6492240" y="4480560"/>
            <a:ext cx="5120640" cy="1417320"/>
          </a:xfrm>
          <a:prstGeom prst="roundRect">
            <a:avLst>
              <a:gd name="adj" fmla="val 5161"/>
            </a:avLst>
          </a:prstGeom>
          <a:solidFill>
            <a:srgbClr val="F4EFE9"/>
          </a:solidFill>
          <a:ln/>
        </p:spPr>
        <p:txBody>
          <a:bodyPr/>
          <a:lstStyle/>
          <a:p>
            <a:endParaRPr lang="en-US"/>
          </a:p>
        </p:txBody>
      </p:sp>
      <p:sp>
        <p:nvSpPr>
          <p:cNvPr id="14" name="Shape 12"/>
          <p:cNvSpPr/>
          <p:nvPr/>
        </p:nvSpPr>
        <p:spPr>
          <a:xfrm>
            <a:off x="6720840" y="4709160"/>
            <a:ext cx="128016" cy="128016"/>
          </a:xfrm>
          <a:prstGeom prst="roundRect">
            <a:avLst>
              <a:gd name="adj" fmla="val 50000"/>
            </a:avLst>
          </a:prstGeom>
          <a:solidFill>
            <a:srgbClr val="E97132"/>
          </a:solidFill>
          <a:ln/>
        </p:spPr>
        <p:txBody>
          <a:bodyPr/>
          <a:lstStyle/>
          <a:p>
            <a:endParaRPr lang="en-US"/>
          </a:p>
        </p:txBody>
      </p:sp>
      <p:sp>
        <p:nvSpPr>
          <p:cNvPr id="15" name="Text 13"/>
          <p:cNvSpPr/>
          <p:nvPr/>
        </p:nvSpPr>
        <p:spPr>
          <a:xfrm>
            <a:off x="6995160" y="4617720"/>
            <a:ext cx="4480560" cy="320040"/>
          </a:xfrm>
          <a:prstGeom prst="rect">
            <a:avLst/>
          </a:prstGeom>
          <a:noFill/>
          <a:ln/>
        </p:spPr>
        <p:txBody>
          <a:bodyPr wrap="square" lIns="0" tIns="0" rIns="0" bIns="0" rtlCol="0" anchor="ctr"/>
          <a:lstStyle/>
          <a:p>
            <a:pPr marL="0" indent="0">
              <a:buNone/>
            </a:pPr>
            <a:r>
              <a:rPr lang="en-US" sz="1500" b="1" dirty="0">
                <a:solidFill>
                  <a:srgbClr val="2B241F"/>
                </a:solidFill>
                <a:latin typeface="Calibri" pitchFamily="34" charset="0"/>
                <a:ea typeface="Calibri" pitchFamily="34" charset="-122"/>
                <a:cs typeface="Calibri" pitchFamily="34" charset="-120"/>
              </a:rPr>
              <a:t>Information overload</a:t>
            </a:r>
            <a:endParaRPr lang="en-US" sz="1500" dirty="0"/>
          </a:p>
        </p:txBody>
      </p:sp>
      <p:sp>
        <p:nvSpPr>
          <p:cNvPr id="16" name="Text 14"/>
          <p:cNvSpPr/>
          <p:nvPr/>
        </p:nvSpPr>
        <p:spPr>
          <a:xfrm>
            <a:off x="6995160" y="4983480"/>
            <a:ext cx="4389120" cy="777240"/>
          </a:xfrm>
          <a:prstGeom prst="rect">
            <a:avLst/>
          </a:prstGeom>
          <a:noFill/>
          <a:ln/>
        </p:spPr>
        <p:txBody>
          <a:bodyPr wrap="square" lIns="0" tIns="0" rIns="0" bIns="0" rtlCol="0" anchor="ctr"/>
          <a:lstStyle/>
          <a:p>
            <a:pPr marL="0" indent="0">
              <a:lnSpc>
                <a:spcPct val="120000"/>
              </a:lnSpc>
              <a:buNone/>
            </a:pPr>
            <a:r>
              <a:rPr lang="en-US" sz="1200" dirty="0">
                <a:solidFill>
                  <a:srgbClr val="8C8378"/>
                </a:solidFill>
                <a:latin typeface="Calibri" pitchFamily="34" charset="0"/>
                <a:ea typeface="Calibri" pitchFamily="34" charset="-122"/>
                <a:cs typeface="Calibri" pitchFamily="34" charset="-120"/>
              </a:rPr>
              <a:t>Job postings, briefs and articles need fast, accurate summarising</a:t>
            </a:r>
            <a:endParaRPr lang="en-US" sz="1200" dirty="0"/>
          </a:p>
        </p:txBody>
      </p:sp>
      <p:sp>
        <p:nvSpPr>
          <p:cNvPr id="17" name="Text 15"/>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8C8378"/>
                </a:solidFill>
                <a:latin typeface="Calibri" pitchFamily="34" charset="0"/>
                <a:ea typeface="Calibri" pitchFamily="34" charset="-122"/>
                <a:cs typeface="Calibri" pitchFamily="34" charset="-120"/>
              </a:rPr>
              <a:t>Flowdesk  |  CAPACITI AI Skills Acceleration Programme</a:t>
            </a:r>
            <a:endParaRPr lang="en-US" sz="900" dirty="0"/>
          </a:p>
        </p:txBody>
      </p:sp>
      <p:sp>
        <p:nvSpPr>
          <p:cNvPr id="18" name="Text 16"/>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00" dirty="0">
                <a:solidFill>
                  <a:srgbClr val="8C83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lIns="0" tIns="0" rIns="0" bIns="0" rtlCol="0" anchor="ctr"/>
          <a:lstStyle/>
          <a:p>
            <a:pPr marL="0" indent="0">
              <a:buNone/>
            </a:pPr>
            <a:r>
              <a:rPr lang="en-US" sz="3000" b="1" dirty="0">
                <a:solidFill>
                  <a:srgbClr val="2B241F"/>
                </a:solidFill>
                <a:latin typeface="Calibri" pitchFamily="34" charset="0"/>
                <a:ea typeface="Calibri" pitchFamily="34" charset="-122"/>
                <a:cs typeface="Calibri" pitchFamily="34" charset="-120"/>
              </a:rPr>
              <a:t>Solution Overview</a:t>
            </a:r>
            <a:endParaRPr lang="en-US" sz="3000" dirty="0"/>
          </a:p>
        </p:txBody>
      </p:sp>
      <p:sp>
        <p:nvSpPr>
          <p:cNvPr id="3" name="Text 1"/>
          <p:cNvSpPr/>
          <p:nvPr/>
        </p:nvSpPr>
        <p:spPr>
          <a:xfrm>
            <a:off x="548640" y="1234440"/>
            <a:ext cx="10881360" cy="731520"/>
          </a:xfrm>
          <a:prstGeom prst="rect">
            <a:avLst/>
          </a:prstGeom>
          <a:noFill/>
          <a:ln/>
        </p:spPr>
        <p:txBody>
          <a:bodyPr wrap="square" lIns="0" tIns="0" rIns="0" bIns="0" rtlCol="0" anchor="ctr"/>
          <a:lstStyle/>
          <a:p>
            <a:pPr marL="0" indent="0">
              <a:lnSpc>
                <a:spcPct val="130000"/>
              </a:lnSpc>
              <a:buNone/>
            </a:pPr>
            <a:r>
              <a:rPr lang="en-US" sz="1500" dirty="0">
                <a:solidFill>
                  <a:srgbClr val="2B241F"/>
                </a:solidFill>
                <a:latin typeface="Calibri" pitchFamily="34" charset="0"/>
                <a:ea typeface="Calibri" pitchFamily="34" charset="-122"/>
                <a:cs typeface="Calibri" pitchFamily="34" charset="-120"/>
              </a:rPr>
              <a:t>Flowdesk is a browser based productivity assistant that uses generative AI to automate three everyday professional tasks. It is designed as a real tool for real use, not just a class exercise.</a:t>
            </a:r>
            <a:endParaRPr lang="en-US" sz="1500" dirty="0"/>
          </a:p>
        </p:txBody>
      </p:sp>
      <p:sp>
        <p:nvSpPr>
          <p:cNvPr id="4" name="Shape 2"/>
          <p:cNvSpPr/>
          <p:nvPr/>
        </p:nvSpPr>
        <p:spPr>
          <a:xfrm>
            <a:off x="548640" y="2331720"/>
            <a:ext cx="3566160" cy="3291840"/>
          </a:xfrm>
          <a:prstGeom prst="roundRect">
            <a:avLst>
              <a:gd name="adj" fmla="val 2222"/>
            </a:avLst>
          </a:prstGeom>
          <a:solidFill>
            <a:srgbClr val="F4EFE9"/>
          </a:solidFill>
          <a:ln/>
        </p:spPr>
        <p:txBody>
          <a:bodyPr/>
          <a:lstStyle/>
          <a:p>
            <a:endParaRPr lang="en-US"/>
          </a:p>
        </p:txBody>
      </p:sp>
      <p:sp>
        <p:nvSpPr>
          <p:cNvPr id="5" name="Shape 3"/>
          <p:cNvSpPr/>
          <p:nvPr/>
        </p:nvSpPr>
        <p:spPr>
          <a:xfrm>
            <a:off x="868680" y="2697480"/>
            <a:ext cx="594360" cy="594360"/>
          </a:xfrm>
          <a:prstGeom prst="roundRect">
            <a:avLst>
              <a:gd name="adj" fmla="val 21538"/>
            </a:avLst>
          </a:prstGeom>
          <a:solidFill>
            <a:srgbClr val="E97132"/>
          </a:solidFill>
          <a:ln/>
        </p:spPr>
        <p:txBody>
          <a:bodyPr/>
          <a:lstStyle/>
          <a:p>
            <a:endParaRPr lang="en-US"/>
          </a:p>
        </p:txBody>
      </p:sp>
      <p:sp>
        <p:nvSpPr>
          <p:cNvPr id="6" name="Text 4"/>
          <p:cNvSpPr/>
          <p:nvPr/>
        </p:nvSpPr>
        <p:spPr>
          <a:xfrm>
            <a:off x="868680" y="3520440"/>
            <a:ext cx="2926080" cy="640080"/>
          </a:xfrm>
          <a:prstGeom prst="rect">
            <a:avLst/>
          </a:prstGeom>
          <a:noFill/>
          <a:ln/>
        </p:spPr>
        <p:txBody>
          <a:bodyPr wrap="square" lIns="0" tIns="0" rIns="0" bIns="0" rtlCol="0" anchor="ctr"/>
          <a:lstStyle/>
          <a:p>
            <a:pPr marL="0" indent="0">
              <a:lnSpc>
                <a:spcPct val="115000"/>
              </a:lnSpc>
              <a:buNone/>
            </a:pPr>
            <a:r>
              <a:rPr lang="en-US" sz="1600" b="1" dirty="0">
                <a:solidFill>
                  <a:srgbClr val="2B241F"/>
                </a:solidFill>
                <a:latin typeface="Calibri" pitchFamily="34" charset="0"/>
                <a:ea typeface="Calibri" pitchFamily="34" charset="-122"/>
                <a:cs typeface="Calibri" pitchFamily="34" charset="-120"/>
              </a:rPr>
              <a:t>Smart Email Generator</a:t>
            </a:r>
            <a:endParaRPr lang="en-US" sz="1600" dirty="0"/>
          </a:p>
        </p:txBody>
      </p:sp>
      <p:sp>
        <p:nvSpPr>
          <p:cNvPr id="7" name="Text 5"/>
          <p:cNvSpPr/>
          <p:nvPr/>
        </p:nvSpPr>
        <p:spPr>
          <a:xfrm>
            <a:off x="868680" y="4160520"/>
            <a:ext cx="2926080" cy="1280160"/>
          </a:xfrm>
          <a:prstGeom prst="rect">
            <a:avLst/>
          </a:prstGeom>
          <a:noFill/>
          <a:ln/>
        </p:spPr>
        <p:txBody>
          <a:bodyPr wrap="square" lIns="0" tIns="0" rIns="0" bIns="0" rtlCol="0" anchor="ctr"/>
          <a:lstStyle/>
          <a:p>
            <a:pPr marL="0" indent="0">
              <a:lnSpc>
                <a:spcPct val="130000"/>
              </a:lnSpc>
              <a:buNone/>
            </a:pPr>
            <a:r>
              <a:rPr lang="en-US" sz="1250" dirty="0">
                <a:solidFill>
                  <a:srgbClr val="8C8378"/>
                </a:solidFill>
                <a:latin typeface="Calibri" pitchFamily="34" charset="0"/>
                <a:ea typeface="Calibri" pitchFamily="34" charset="-122"/>
                <a:cs typeface="Calibri" pitchFamily="34" charset="-120"/>
              </a:rPr>
              <a:t>Generates professional emails based on purpose, audience and tone, ready to send or edit</a:t>
            </a:r>
            <a:endParaRPr lang="en-US" sz="1250" dirty="0"/>
          </a:p>
        </p:txBody>
      </p:sp>
      <p:sp>
        <p:nvSpPr>
          <p:cNvPr id="8" name="Shape 6"/>
          <p:cNvSpPr/>
          <p:nvPr/>
        </p:nvSpPr>
        <p:spPr>
          <a:xfrm>
            <a:off x="4343400" y="2331720"/>
            <a:ext cx="3566160" cy="3291840"/>
          </a:xfrm>
          <a:prstGeom prst="roundRect">
            <a:avLst>
              <a:gd name="adj" fmla="val 2222"/>
            </a:avLst>
          </a:prstGeom>
          <a:solidFill>
            <a:srgbClr val="F4EFE9"/>
          </a:solidFill>
          <a:ln/>
        </p:spPr>
        <p:txBody>
          <a:bodyPr/>
          <a:lstStyle/>
          <a:p>
            <a:endParaRPr lang="en-US"/>
          </a:p>
        </p:txBody>
      </p:sp>
      <p:sp>
        <p:nvSpPr>
          <p:cNvPr id="9" name="Shape 7"/>
          <p:cNvSpPr/>
          <p:nvPr/>
        </p:nvSpPr>
        <p:spPr>
          <a:xfrm>
            <a:off x="4663440" y="2697480"/>
            <a:ext cx="594360" cy="594360"/>
          </a:xfrm>
          <a:prstGeom prst="roundRect">
            <a:avLst>
              <a:gd name="adj" fmla="val 21538"/>
            </a:avLst>
          </a:prstGeom>
          <a:solidFill>
            <a:srgbClr val="E97132"/>
          </a:solidFill>
          <a:ln/>
        </p:spPr>
        <p:txBody>
          <a:bodyPr/>
          <a:lstStyle/>
          <a:p>
            <a:endParaRPr lang="en-US"/>
          </a:p>
        </p:txBody>
      </p:sp>
      <p:sp>
        <p:nvSpPr>
          <p:cNvPr id="10" name="Text 8"/>
          <p:cNvSpPr/>
          <p:nvPr/>
        </p:nvSpPr>
        <p:spPr>
          <a:xfrm>
            <a:off x="4663440" y="3520440"/>
            <a:ext cx="2926080" cy="640080"/>
          </a:xfrm>
          <a:prstGeom prst="rect">
            <a:avLst/>
          </a:prstGeom>
          <a:noFill/>
          <a:ln/>
        </p:spPr>
        <p:txBody>
          <a:bodyPr wrap="square" lIns="0" tIns="0" rIns="0" bIns="0" rtlCol="0" anchor="ctr"/>
          <a:lstStyle/>
          <a:p>
            <a:pPr marL="0" indent="0">
              <a:lnSpc>
                <a:spcPct val="115000"/>
              </a:lnSpc>
              <a:buNone/>
            </a:pPr>
            <a:r>
              <a:rPr lang="en-US" sz="1600" b="1" dirty="0">
                <a:solidFill>
                  <a:srgbClr val="2B241F"/>
                </a:solidFill>
                <a:latin typeface="Calibri" pitchFamily="34" charset="0"/>
                <a:ea typeface="Calibri" pitchFamily="34" charset="-122"/>
                <a:cs typeface="Calibri" pitchFamily="34" charset="-120"/>
              </a:rPr>
              <a:t>AI Task Planner</a:t>
            </a:r>
            <a:endParaRPr lang="en-US" sz="1600" dirty="0"/>
          </a:p>
        </p:txBody>
      </p:sp>
      <p:sp>
        <p:nvSpPr>
          <p:cNvPr id="11" name="Text 9"/>
          <p:cNvSpPr/>
          <p:nvPr/>
        </p:nvSpPr>
        <p:spPr>
          <a:xfrm>
            <a:off x="4663440" y="4160520"/>
            <a:ext cx="2926080" cy="1280160"/>
          </a:xfrm>
          <a:prstGeom prst="rect">
            <a:avLst/>
          </a:prstGeom>
          <a:noFill/>
          <a:ln/>
        </p:spPr>
        <p:txBody>
          <a:bodyPr wrap="square" lIns="0" tIns="0" rIns="0" bIns="0" rtlCol="0" anchor="ctr"/>
          <a:lstStyle/>
          <a:p>
            <a:pPr marL="0" indent="0">
              <a:lnSpc>
                <a:spcPct val="130000"/>
              </a:lnSpc>
              <a:buNone/>
            </a:pPr>
            <a:r>
              <a:rPr lang="en-US" sz="1250" dirty="0">
                <a:solidFill>
                  <a:srgbClr val="8C8378"/>
                </a:solidFill>
                <a:latin typeface="Calibri" pitchFamily="34" charset="0"/>
                <a:ea typeface="Calibri" pitchFamily="34" charset="-122"/>
                <a:cs typeface="Calibri" pitchFamily="34" charset="-120"/>
              </a:rPr>
              <a:t>Turns a raw list of tasks and deadlines into a prioritised, structured plan</a:t>
            </a:r>
            <a:endParaRPr lang="en-US" sz="1250" dirty="0"/>
          </a:p>
        </p:txBody>
      </p:sp>
      <p:sp>
        <p:nvSpPr>
          <p:cNvPr id="12" name="Shape 10"/>
          <p:cNvSpPr/>
          <p:nvPr/>
        </p:nvSpPr>
        <p:spPr>
          <a:xfrm>
            <a:off x="8138160" y="2331720"/>
            <a:ext cx="3566160" cy="3291840"/>
          </a:xfrm>
          <a:prstGeom prst="roundRect">
            <a:avLst>
              <a:gd name="adj" fmla="val 2222"/>
            </a:avLst>
          </a:prstGeom>
          <a:solidFill>
            <a:srgbClr val="F4EFE9"/>
          </a:solidFill>
          <a:ln/>
        </p:spPr>
        <p:txBody>
          <a:bodyPr/>
          <a:lstStyle/>
          <a:p>
            <a:endParaRPr lang="en-US"/>
          </a:p>
        </p:txBody>
      </p:sp>
      <p:sp>
        <p:nvSpPr>
          <p:cNvPr id="13" name="Shape 11"/>
          <p:cNvSpPr/>
          <p:nvPr/>
        </p:nvSpPr>
        <p:spPr>
          <a:xfrm>
            <a:off x="8458200" y="2697480"/>
            <a:ext cx="594360" cy="594360"/>
          </a:xfrm>
          <a:prstGeom prst="roundRect">
            <a:avLst>
              <a:gd name="adj" fmla="val 21538"/>
            </a:avLst>
          </a:prstGeom>
          <a:solidFill>
            <a:srgbClr val="E97132"/>
          </a:solidFill>
          <a:ln/>
        </p:spPr>
        <p:txBody>
          <a:bodyPr/>
          <a:lstStyle/>
          <a:p>
            <a:endParaRPr lang="en-US"/>
          </a:p>
        </p:txBody>
      </p:sp>
      <p:sp>
        <p:nvSpPr>
          <p:cNvPr id="14" name="Text 12"/>
          <p:cNvSpPr/>
          <p:nvPr/>
        </p:nvSpPr>
        <p:spPr>
          <a:xfrm>
            <a:off x="8458200" y="3520440"/>
            <a:ext cx="2926080" cy="640080"/>
          </a:xfrm>
          <a:prstGeom prst="rect">
            <a:avLst/>
          </a:prstGeom>
          <a:noFill/>
          <a:ln/>
        </p:spPr>
        <p:txBody>
          <a:bodyPr wrap="square" lIns="0" tIns="0" rIns="0" bIns="0" rtlCol="0" anchor="ctr"/>
          <a:lstStyle/>
          <a:p>
            <a:pPr marL="0" indent="0">
              <a:lnSpc>
                <a:spcPct val="115000"/>
              </a:lnSpc>
              <a:buNone/>
            </a:pPr>
            <a:r>
              <a:rPr lang="en-US" sz="1600" b="1" dirty="0">
                <a:solidFill>
                  <a:srgbClr val="2B241F"/>
                </a:solidFill>
                <a:latin typeface="Calibri" pitchFamily="34" charset="0"/>
                <a:ea typeface="Calibri" pitchFamily="34" charset="-122"/>
                <a:cs typeface="Calibri" pitchFamily="34" charset="-120"/>
              </a:rPr>
              <a:t>AI Research Assistant</a:t>
            </a:r>
            <a:endParaRPr lang="en-US" sz="1600" dirty="0"/>
          </a:p>
        </p:txBody>
      </p:sp>
      <p:sp>
        <p:nvSpPr>
          <p:cNvPr id="15" name="Text 13"/>
          <p:cNvSpPr/>
          <p:nvPr/>
        </p:nvSpPr>
        <p:spPr>
          <a:xfrm>
            <a:off x="8458200" y="4160520"/>
            <a:ext cx="2926080" cy="1280160"/>
          </a:xfrm>
          <a:prstGeom prst="rect">
            <a:avLst/>
          </a:prstGeom>
          <a:noFill/>
          <a:ln/>
        </p:spPr>
        <p:txBody>
          <a:bodyPr wrap="square" lIns="0" tIns="0" rIns="0" bIns="0" rtlCol="0" anchor="ctr"/>
          <a:lstStyle/>
          <a:p>
            <a:pPr marL="0" indent="0">
              <a:lnSpc>
                <a:spcPct val="130000"/>
              </a:lnSpc>
              <a:buNone/>
            </a:pPr>
            <a:r>
              <a:rPr lang="en-US" sz="1250" dirty="0">
                <a:solidFill>
                  <a:srgbClr val="8C8378"/>
                </a:solidFill>
                <a:latin typeface="Calibri" pitchFamily="34" charset="0"/>
                <a:ea typeface="Calibri" pitchFamily="34" charset="-122"/>
                <a:cs typeface="Calibri" pitchFamily="34" charset="-120"/>
              </a:rPr>
              <a:t>Summarises articles, job posts or notes into key insights in seconds</a:t>
            </a:r>
            <a:endParaRPr lang="en-US" sz="1250" dirty="0"/>
          </a:p>
        </p:txBody>
      </p:sp>
      <p:sp>
        <p:nvSpPr>
          <p:cNvPr id="16" name="Text 14"/>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8C8378"/>
                </a:solidFill>
                <a:latin typeface="Calibri" pitchFamily="34" charset="0"/>
                <a:ea typeface="Calibri" pitchFamily="34" charset="-122"/>
                <a:cs typeface="Calibri" pitchFamily="34" charset="-120"/>
              </a:rPr>
              <a:t>Flowdesk  |  CAPACITI AI Skills Acceleration Programme</a:t>
            </a:r>
            <a:endParaRPr lang="en-US" sz="900" dirty="0"/>
          </a:p>
        </p:txBody>
      </p:sp>
      <p:sp>
        <p:nvSpPr>
          <p:cNvPr id="17" name="Text 15"/>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00" dirty="0">
                <a:solidFill>
                  <a:srgbClr val="8C83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FE9"/>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lIns="0" tIns="0" rIns="0" bIns="0" rtlCol="0" anchor="ctr"/>
          <a:lstStyle/>
          <a:p>
            <a:pPr marL="0" indent="0">
              <a:buNone/>
            </a:pPr>
            <a:r>
              <a:rPr lang="en-US" sz="3000" b="1" dirty="0">
                <a:solidFill>
                  <a:srgbClr val="2B241F"/>
                </a:solidFill>
                <a:latin typeface="Calibri" pitchFamily="34" charset="0"/>
                <a:ea typeface="Calibri" pitchFamily="34" charset="-122"/>
                <a:cs typeface="Calibri" pitchFamily="34" charset="-120"/>
              </a:rPr>
              <a:t>Design Direction</a:t>
            </a:r>
            <a:endParaRPr lang="en-US" sz="3000" dirty="0"/>
          </a:p>
        </p:txBody>
      </p:sp>
      <p:sp>
        <p:nvSpPr>
          <p:cNvPr id="3" name="Text 1"/>
          <p:cNvSpPr/>
          <p:nvPr/>
        </p:nvSpPr>
        <p:spPr>
          <a:xfrm>
            <a:off x="548640" y="1188720"/>
            <a:ext cx="10515600" cy="548640"/>
          </a:xfrm>
          <a:prstGeom prst="rect">
            <a:avLst/>
          </a:prstGeom>
          <a:noFill/>
          <a:ln/>
        </p:spPr>
        <p:txBody>
          <a:bodyPr wrap="square" lIns="0" tIns="0" rIns="0" bIns="0" rtlCol="0" anchor="ctr"/>
          <a:lstStyle/>
          <a:p>
            <a:pPr marL="0" indent="0">
              <a:buNone/>
            </a:pPr>
            <a:r>
              <a:rPr lang="en-US" sz="1500" dirty="0">
                <a:solidFill>
                  <a:srgbClr val="2B241F"/>
                </a:solidFill>
                <a:latin typeface="Calibri" pitchFamily="34" charset="0"/>
                <a:ea typeface="Calibri" pitchFamily="34" charset="-122"/>
                <a:cs typeface="Calibri" pitchFamily="34" charset="-120"/>
              </a:rPr>
              <a:t>Styled after modern SaaS interfaces on Framer and Mobbin, warm and light by default, with a dark mode toggle for user preference.</a:t>
            </a:r>
            <a:endParaRPr lang="en-US" sz="1500" dirty="0"/>
          </a:p>
        </p:txBody>
      </p:sp>
      <p:sp>
        <p:nvSpPr>
          <p:cNvPr id="4" name="Shape 2"/>
          <p:cNvSpPr/>
          <p:nvPr/>
        </p:nvSpPr>
        <p:spPr>
          <a:xfrm>
            <a:off x="548640" y="2148840"/>
            <a:ext cx="5212080" cy="1691640"/>
          </a:xfrm>
          <a:prstGeom prst="roundRect">
            <a:avLst>
              <a:gd name="adj" fmla="val 4324"/>
            </a:avLst>
          </a:prstGeom>
          <a:solidFill>
            <a:srgbClr val="FFFFFF"/>
          </a:solidFill>
          <a:ln/>
        </p:spPr>
        <p:txBody>
          <a:bodyPr/>
          <a:lstStyle/>
          <a:p>
            <a:endParaRPr lang="en-US"/>
          </a:p>
        </p:txBody>
      </p:sp>
      <p:sp>
        <p:nvSpPr>
          <p:cNvPr id="5" name="Shape 3"/>
          <p:cNvSpPr/>
          <p:nvPr/>
        </p:nvSpPr>
        <p:spPr>
          <a:xfrm>
            <a:off x="822960" y="2404872"/>
            <a:ext cx="128016" cy="128016"/>
          </a:xfrm>
          <a:prstGeom prst="roundRect">
            <a:avLst>
              <a:gd name="adj" fmla="val 50000"/>
            </a:avLst>
          </a:prstGeom>
          <a:solidFill>
            <a:srgbClr val="E97132"/>
          </a:solidFill>
          <a:ln/>
        </p:spPr>
        <p:txBody>
          <a:bodyPr/>
          <a:lstStyle/>
          <a:p>
            <a:endParaRPr lang="en-US"/>
          </a:p>
        </p:txBody>
      </p:sp>
      <p:sp>
        <p:nvSpPr>
          <p:cNvPr id="6" name="Text 4"/>
          <p:cNvSpPr/>
          <p:nvPr/>
        </p:nvSpPr>
        <p:spPr>
          <a:xfrm>
            <a:off x="1097280" y="2313432"/>
            <a:ext cx="4389120" cy="365760"/>
          </a:xfrm>
          <a:prstGeom prst="rect">
            <a:avLst/>
          </a:prstGeom>
          <a:noFill/>
          <a:ln/>
        </p:spPr>
        <p:txBody>
          <a:bodyPr wrap="square" lIns="0" tIns="0" rIns="0" bIns="0" rtlCol="0" anchor="ctr"/>
          <a:lstStyle/>
          <a:p>
            <a:pPr marL="0" indent="0">
              <a:buNone/>
            </a:pPr>
            <a:r>
              <a:rPr lang="en-US" sz="1450" b="1" dirty="0">
                <a:solidFill>
                  <a:srgbClr val="2B241F"/>
                </a:solidFill>
                <a:latin typeface="Calibri" pitchFamily="34" charset="0"/>
                <a:ea typeface="Calibri" pitchFamily="34" charset="-122"/>
                <a:cs typeface="Calibri" pitchFamily="34" charset="-120"/>
              </a:rPr>
              <a:t>Light by default</a:t>
            </a:r>
            <a:endParaRPr lang="en-US" sz="1450" dirty="0"/>
          </a:p>
        </p:txBody>
      </p:sp>
      <p:sp>
        <p:nvSpPr>
          <p:cNvPr id="7" name="Text 5"/>
          <p:cNvSpPr/>
          <p:nvPr/>
        </p:nvSpPr>
        <p:spPr>
          <a:xfrm>
            <a:off x="822960" y="2743200"/>
            <a:ext cx="4663440" cy="1005840"/>
          </a:xfrm>
          <a:prstGeom prst="rect">
            <a:avLst/>
          </a:prstGeom>
          <a:noFill/>
          <a:ln/>
        </p:spPr>
        <p:txBody>
          <a:bodyPr wrap="square" lIns="0" tIns="0" rIns="0" bIns="0" rtlCol="0" anchor="ctr"/>
          <a:lstStyle/>
          <a:p>
            <a:pPr marL="0" indent="0">
              <a:lnSpc>
                <a:spcPct val="125000"/>
              </a:lnSpc>
              <a:buNone/>
            </a:pPr>
            <a:r>
              <a:rPr lang="en-US" sz="1200" dirty="0">
                <a:solidFill>
                  <a:srgbClr val="8C8378"/>
                </a:solidFill>
                <a:latin typeface="Calibri" pitchFamily="34" charset="0"/>
                <a:ea typeface="Calibri" pitchFamily="34" charset="-122"/>
                <a:cs typeface="Calibri" pitchFamily="34" charset="-120"/>
              </a:rPr>
              <a:t>Soft neutral stone background, not a dark landing page</a:t>
            </a:r>
            <a:endParaRPr lang="en-US" sz="1200" dirty="0"/>
          </a:p>
        </p:txBody>
      </p:sp>
      <p:sp>
        <p:nvSpPr>
          <p:cNvPr id="8" name="Shape 6"/>
          <p:cNvSpPr/>
          <p:nvPr/>
        </p:nvSpPr>
        <p:spPr>
          <a:xfrm>
            <a:off x="6172200" y="2148840"/>
            <a:ext cx="5212080" cy="1691640"/>
          </a:xfrm>
          <a:prstGeom prst="roundRect">
            <a:avLst>
              <a:gd name="adj" fmla="val 4324"/>
            </a:avLst>
          </a:prstGeom>
          <a:solidFill>
            <a:srgbClr val="FFFFFF"/>
          </a:solidFill>
          <a:ln/>
        </p:spPr>
        <p:txBody>
          <a:bodyPr/>
          <a:lstStyle/>
          <a:p>
            <a:endParaRPr lang="en-US"/>
          </a:p>
        </p:txBody>
      </p:sp>
      <p:sp>
        <p:nvSpPr>
          <p:cNvPr id="9" name="Shape 7"/>
          <p:cNvSpPr/>
          <p:nvPr/>
        </p:nvSpPr>
        <p:spPr>
          <a:xfrm>
            <a:off x="6446520" y="2404872"/>
            <a:ext cx="128016" cy="128016"/>
          </a:xfrm>
          <a:prstGeom prst="roundRect">
            <a:avLst>
              <a:gd name="adj" fmla="val 50000"/>
            </a:avLst>
          </a:prstGeom>
          <a:solidFill>
            <a:srgbClr val="E97132"/>
          </a:solidFill>
          <a:ln/>
        </p:spPr>
        <p:txBody>
          <a:bodyPr/>
          <a:lstStyle/>
          <a:p>
            <a:endParaRPr lang="en-US"/>
          </a:p>
        </p:txBody>
      </p:sp>
      <p:sp>
        <p:nvSpPr>
          <p:cNvPr id="10" name="Text 8"/>
          <p:cNvSpPr/>
          <p:nvPr/>
        </p:nvSpPr>
        <p:spPr>
          <a:xfrm>
            <a:off x="6720840" y="2313432"/>
            <a:ext cx="4389120" cy="365760"/>
          </a:xfrm>
          <a:prstGeom prst="rect">
            <a:avLst/>
          </a:prstGeom>
          <a:noFill/>
          <a:ln/>
        </p:spPr>
        <p:txBody>
          <a:bodyPr wrap="square" lIns="0" tIns="0" rIns="0" bIns="0" rtlCol="0" anchor="ctr"/>
          <a:lstStyle/>
          <a:p>
            <a:pPr marL="0" indent="0">
              <a:buNone/>
            </a:pPr>
            <a:r>
              <a:rPr lang="en-US" sz="1450" b="1" dirty="0">
                <a:solidFill>
                  <a:srgbClr val="2B241F"/>
                </a:solidFill>
                <a:latin typeface="Calibri" pitchFamily="34" charset="0"/>
                <a:ea typeface="Calibri" pitchFamily="34" charset="-122"/>
                <a:cs typeface="Calibri" pitchFamily="34" charset="-120"/>
              </a:rPr>
              <a:t>Warm accent colour</a:t>
            </a:r>
            <a:endParaRPr lang="en-US" sz="1450" dirty="0"/>
          </a:p>
        </p:txBody>
      </p:sp>
      <p:sp>
        <p:nvSpPr>
          <p:cNvPr id="11" name="Text 9"/>
          <p:cNvSpPr/>
          <p:nvPr/>
        </p:nvSpPr>
        <p:spPr>
          <a:xfrm>
            <a:off x="6446520" y="2743200"/>
            <a:ext cx="4663440" cy="1005840"/>
          </a:xfrm>
          <a:prstGeom prst="rect">
            <a:avLst/>
          </a:prstGeom>
          <a:noFill/>
          <a:ln/>
        </p:spPr>
        <p:txBody>
          <a:bodyPr wrap="square" lIns="0" tIns="0" rIns="0" bIns="0" rtlCol="0" anchor="ctr"/>
          <a:lstStyle/>
          <a:p>
            <a:pPr marL="0" indent="0">
              <a:lnSpc>
                <a:spcPct val="125000"/>
              </a:lnSpc>
              <a:buNone/>
            </a:pPr>
            <a:r>
              <a:rPr lang="en-US" sz="1200" dirty="0">
                <a:solidFill>
                  <a:srgbClr val="8C8378"/>
                </a:solidFill>
                <a:latin typeface="Calibri" pitchFamily="34" charset="0"/>
                <a:ea typeface="Calibri" pitchFamily="34" charset="-122"/>
                <a:cs typeface="Calibri" pitchFamily="34" charset="-120"/>
              </a:rPr>
              <a:t>Burnt orange used sparingly for buttons and highlights</a:t>
            </a:r>
            <a:endParaRPr lang="en-US" sz="1200" dirty="0"/>
          </a:p>
        </p:txBody>
      </p:sp>
      <p:sp>
        <p:nvSpPr>
          <p:cNvPr id="12" name="Shape 10"/>
          <p:cNvSpPr/>
          <p:nvPr/>
        </p:nvSpPr>
        <p:spPr>
          <a:xfrm>
            <a:off x="548640" y="4114800"/>
            <a:ext cx="5212080" cy="1691640"/>
          </a:xfrm>
          <a:prstGeom prst="roundRect">
            <a:avLst>
              <a:gd name="adj" fmla="val 4324"/>
            </a:avLst>
          </a:prstGeom>
          <a:solidFill>
            <a:srgbClr val="FFFFFF"/>
          </a:solidFill>
          <a:ln/>
        </p:spPr>
        <p:txBody>
          <a:bodyPr/>
          <a:lstStyle/>
          <a:p>
            <a:endParaRPr lang="en-US"/>
          </a:p>
        </p:txBody>
      </p:sp>
      <p:sp>
        <p:nvSpPr>
          <p:cNvPr id="13" name="Shape 11"/>
          <p:cNvSpPr/>
          <p:nvPr/>
        </p:nvSpPr>
        <p:spPr>
          <a:xfrm>
            <a:off x="822960" y="4370832"/>
            <a:ext cx="128016" cy="128016"/>
          </a:xfrm>
          <a:prstGeom prst="roundRect">
            <a:avLst>
              <a:gd name="adj" fmla="val 50000"/>
            </a:avLst>
          </a:prstGeom>
          <a:solidFill>
            <a:srgbClr val="E97132"/>
          </a:solidFill>
          <a:ln/>
        </p:spPr>
        <p:txBody>
          <a:bodyPr/>
          <a:lstStyle/>
          <a:p>
            <a:endParaRPr lang="en-US"/>
          </a:p>
        </p:txBody>
      </p:sp>
      <p:sp>
        <p:nvSpPr>
          <p:cNvPr id="14" name="Text 12"/>
          <p:cNvSpPr/>
          <p:nvPr/>
        </p:nvSpPr>
        <p:spPr>
          <a:xfrm>
            <a:off x="1097280" y="4279392"/>
            <a:ext cx="4389120" cy="365760"/>
          </a:xfrm>
          <a:prstGeom prst="rect">
            <a:avLst/>
          </a:prstGeom>
          <a:noFill/>
          <a:ln/>
        </p:spPr>
        <p:txBody>
          <a:bodyPr wrap="square" lIns="0" tIns="0" rIns="0" bIns="0" rtlCol="0" anchor="ctr"/>
          <a:lstStyle/>
          <a:p>
            <a:pPr marL="0" indent="0">
              <a:buNone/>
            </a:pPr>
            <a:r>
              <a:rPr lang="en-US" sz="1450" b="1" dirty="0">
                <a:solidFill>
                  <a:srgbClr val="2B241F"/>
                </a:solidFill>
                <a:latin typeface="Calibri" pitchFamily="34" charset="0"/>
                <a:ea typeface="Calibri" pitchFamily="34" charset="-122"/>
                <a:cs typeface="Calibri" pitchFamily="34" charset="-120"/>
              </a:rPr>
              <a:t>Light / dark toggle</a:t>
            </a:r>
            <a:endParaRPr lang="en-US" sz="1450" dirty="0"/>
          </a:p>
        </p:txBody>
      </p:sp>
      <p:sp>
        <p:nvSpPr>
          <p:cNvPr id="15" name="Text 13"/>
          <p:cNvSpPr/>
          <p:nvPr/>
        </p:nvSpPr>
        <p:spPr>
          <a:xfrm>
            <a:off x="822960" y="4709160"/>
            <a:ext cx="4663440" cy="1005840"/>
          </a:xfrm>
          <a:prstGeom prst="rect">
            <a:avLst/>
          </a:prstGeom>
          <a:noFill/>
          <a:ln/>
        </p:spPr>
        <p:txBody>
          <a:bodyPr wrap="square" lIns="0" tIns="0" rIns="0" bIns="0" rtlCol="0" anchor="ctr"/>
          <a:lstStyle/>
          <a:p>
            <a:pPr marL="0" indent="0">
              <a:lnSpc>
                <a:spcPct val="125000"/>
              </a:lnSpc>
              <a:buNone/>
            </a:pPr>
            <a:r>
              <a:rPr lang="en-US" sz="1200" dirty="0">
                <a:solidFill>
                  <a:srgbClr val="8C8378"/>
                </a:solidFill>
                <a:latin typeface="Calibri" pitchFamily="34" charset="0"/>
                <a:ea typeface="Calibri" pitchFamily="34" charset="-122"/>
                <a:cs typeface="Calibri" pitchFamily="34" charset="-120"/>
              </a:rPr>
              <a:t>User can switch to a warm charcoal dark mode anytime</a:t>
            </a:r>
            <a:endParaRPr lang="en-US" sz="1200" dirty="0"/>
          </a:p>
        </p:txBody>
      </p:sp>
      <p:sp>
        <p:nvSpPr>
          <p:cNvPr id="16" name="Shape 14"/>
          <p:cNvSpPr/>
          <p:nvPr/>
        </p:nvSpPr>
        <p:spPr>
          <a:xfrm>
            <a:off x="6172200" y="4114800"/>
            <a:ext cx="5212080" cy="1691640"/>
          </a:xfrm>
          <a:prstGeom prst="roundRect">
            <a:avLst>
              <a:gd name="adj" fmla="val 4324"/>
            </a:avLst>
          </a:prstGeom>
          <a:solidFill>
            <a:srgbClr val="FFFFFF"/>
          </a:solidFill>
          <a:ln/>
        </p:spPr>
        <p:txBody>
          <a:bodyPr/>
          <a:lstStyle/>
          <a:p>
            <a:endParaRPr lang="en-US"/>
          </a:p>
        </p:txBody>
      </p:sp>
      <p:sp>
        <p:nvSpPr>
          <p:cNvPr id="17" name="Shape 15"/>
          <p:cNvSpPr/>
          <p:nvPr/>
        </p:nvSpPr>
        <p:spPr>
          <a:xfrm>
            <a:off x="6446520" y="4370832"/>
            <a:ext cx="128016" cy="128016"/>
          </a:xfrm>
          <a:prstGeom prst="roundRect">
            <a:avLst>
              <a:gd name="adj" fmla="val 50000"/>
            </a:avLst>
          </a:prstGeom>
          <a:solidFill>
            <a:srgbClr val="E97132"/>
          </a:solidFill>
          <a:ln/>
        </p:spPr>
        <p:txBody>
          <a:bodyPr/>
          <a:lstStyle/>
          <a:p>
            <a:endParaRPr lang="en-US"/>
          </a:p>
        </p:txBody>
      </p:sp>
      <p:sp>
        <p:nvSpPr>
          <p:cNvPr id="18" name="Text 16"/>
          <p:cNvSpPr/>
          <p:nvPr/>
        </p:nvSpPr>
        <p:spPr>
          <a:xfrm>
            <a:off x="6720840" y="4279392"/>
            <a:ext cx="4389120" cy="365760"/>
          </a:xfrm>
          <a:prstGeom prst="rect">
            <a:avLst/>
          </a:prstGeom>
          <a:noFill/>
          <a:ln/>
        </p:spPr>
        <p:txBody>
          <a:bodyPr wrap="square" lIns="0" tIns="0" rIns="0" bIns="0" rtlCol="0" anchor="ctr"/>
          <a:lstStyle/>
          <a:p>
            <a:pPr marL="0" indent="0">
              <a:buNone/>
            </a:pPr>
            <a:r>
              <a:rPr lang="en-US" sz="1450" b="1" dirty="0">
                <a:solidFill>
                  <a:srgbClr val="2B241F"/>
                </a:solidFill>
                <a:latin typeface="Calibri" pitchFamily="34" charset="0"/>
                <a:ea typeface="Calibri" pitchFamily="34" charset="-122"/>
                <a:cs typeface="Calibri" pitchFamily="34" charset="-120"/>
              </a:rPr>
              <a:t>Soft, modern shapes</a:t>
            </a:r>
            <a:endParaRPr lang="en-US" sz="1450" dirty="0"/>
          </a:p>
        </p:txBody>
      </p:sp>
      <p:sp>
        <p:nvSpPr>
          <p:cNvPr id="19" name="Text 17"/>
          <p:cNvSpPr/>
          <p:nvPr/>
        </p:nvSpPr>
        <p:spPr>
          <a:xfrm>
            <a:off x="6446520" y="4709160"/>
            <a:ext cx="4663440" cy="1005840"/>
          </a:xfrm>
          <a:prstGeom prst="rect">
            <a:avLst/>
          </a:prstGeom>
          <a:noFill/>
          <a:ln/>
        </p:spPr>
        <p:txBody>
          <a:bodyPr wrap="square" lIns="0" tIns="0" rIns="0" bIns="0" rtlCol="0" anchor="ctr"/>
          <a:lstStyle/>
          <a:p>
            <a:pPr marL="0" indent="0">
              <a:lnSpc>
                <a:spcPct val="125000"/>
              </a:lnSpc>
              <a:buNone/>
            </a:pPr>
            <a:r>
              <a:rPr lang="en-US" sz="1200" dirty="0">
                <a:solidFill>
                  <a:srgbClr val="8C8378"/>
                </a:solidFill>
                <a:latin typeface="Calibri" pitchFamily="34" charset="0"/>
                <a:ea typeface="Calibri" pitchFamily="34" charset="-122"/>
                <a:cs typeface="Calibri" pitchFamily="34" charset="-120"/>
              </a:rPr>
              <a:t>Rounded corners and subtle shadows instead of hard borders</a:t>
            </a:r>
            <a:endParaRPr lang="en-US" sz="1200" dirty="0"/>
          </a:p>
        </p:txBody>
      </p:sp>
      <p:sp>
        <p:nvSpPr>
          <p:cNvPr id="20" name="Text 18"/>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8C8378"/>
                </a:solidFill>
                <a:latin typeface="Calibri" pitchFamily="34" charset="0"/>
                <a:ea typeface="Calibri" pitchFamily="34" charset="-122"/>
                <a:cs typeface="Calibri" pitchFamily="34" charset="-120"/>
              </a:rPr>
              <a:t>Flowdesk  |  CAPACITI AI Skills Acceleration Programme</a:t>
            </a:r>
            <a:endParaRPr lang="en-US" sz="900" dirty="0"/>
          </a:p>
        </p:txBody>
      </p:sp>
      <p:sp>
        <p:nvSpPr>
          <p:cNvPr id="21" name="Text 19"/>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00" dirty="0">
                <a:solidFill>
                  <a:srgbClr val="8C83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A332C"/>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Tools Used</a:t>
            </a:r>
            <a:endParaRPr lang="en-US" sz="3000" dirty="0"/>
          </a:p>
        </p:txBody>
      </p:sp>
      <p:sp>
        <p:nvSpPr>
          <p:cNvPr id="3" name="Shape 1"/>
          <p:cNvSpPr/>
          <p:nvPr/>
        </p:nvSpPr>
        <p:spPr>
          <a:xfrm>
            <a:off x="548640" y="1371600"/>
            <a:ext cx="5212080" cy="1783080"/>
          </a:xfrm>
          <a:prstGeom prst="roundRect">
            <a:avLst>
              <a:gd name="adj" fmla="val 4103"/>
            </a:avLst>
          </a:prstGeom>
          <a:solidFill>
            <a:srgbClr val="463D34"/>
          </a:solidFill>
          <a:ln/>
        </p:spPr>
        <p:txBody>
          <a:bodyPr/>
          <a:lstStyle/>
          <a:p>
            <a:endParaRPr lang="en-US"/>
          </a:p>
        </p:txBody>
      </p:sp>
      <p:sp>
        <p:nvSpPr>
          <p:cNvPr id="4" name="Shape 2"/>
          <p:cNvSpPr/>
          <p:nvPr/>
        </p:nvSpPr>
        <p:spPr>
          <a:xfrm>
            <a:off x="548640" y="1371600"/>
            <a:ext cx="73152" cy="1783080"/>
          </a:xfrm>
          <a:prstGeom prst="rect">
            <a:avLst/>
          </a:prstGeom>
          <a:solidFill>
            <a:srgbClr val="E97132"/>
          </a:solidFill>
          <a:ln/>
        </p:spPr>
        <p:txBody>
          <a:bodyPr/>
          <a:lstStyle/>
          <a:p>
            <a:endParaRPr lang="en-US"/>
          </a:p>
        </p:txBody>
      </p:sp>
      <p:sp>
        <p:nvSpPr>
          <p:cNvPr id="5" name="Text 3"/>
          <p:cNvSpPr/>
          <p:nvPr/>
        </p:nvSpPr>
        <p:spPr>
          <a:xfrm>
            <a:off x="868680" y="1600200"/>
            <a:ext cx="4663440" cy="4572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Lovable</a:t>
            </a:r>
            <a:endParaRPr lang="en-US" sz="1700" dirty="0"/>
          </a:p>
        </p:txBody>
      </p:sp>
      <p:sp>
        <p:nvSpPr>
          <p:cNvPr id="6" name="Text 4"/>
          <p:cNvSpPr/>
          <p:nvPr/>
        </p:nvSpPr>
        <p:spPr>
          <a:xfrm>
            <a:off x="868680" y="2148840"/>
            <a:ext cx="4663440" cy="914400"/>
          </a:xfrm>
          <a:prstGeom prst="rect">
            <a:avLst/>
          </a:prstGeom>
          <a:noFill/>
          <a:ln/>
        </p:spPr>
        <p:txBody>
          <a:bodyPr wrap="square" lIns="0" tIns="0" rIns="0" bIns="0" rtlCol="0" anchor="ctr"/>
          <a:lstStyle/>
          <a:p>
            <a:pPr marL="0" indent="0">
              <a:lnSpc>
                <a:spcPct val="130000"/>
              </a:lnSpc>
              <a:buNone/>
            </a:pPr>
            <a:r>
              <a:rPr lang="en-US" sz="1250" dirty="0">
                <a:solidFill>
                  <a:srgbClr val="C9C2B8"/>
                </a:solidFill>
                <a:latin typeface="Calibri" pitchFamily="34" charset="0"/>
                <a:ea typeface="Calibri" pitchFamily="34" charset="-122"/>
                <a:cs typeface="Calibri" pitchFamily="34" charset="-120"/>
              </a:rPr>
              <a:t>AI app builder used to generate and deploy the front end from natural language prompts</a:t>
            </a:r>
            <a:endParaRPr lang="en-US" sz="1250" dirty="0"/>
          </a:p>
        </p:txBody>
      </p:sp>
      <p:sp>
        <p:nvSpPr>
          <p:cNvPr id="7" name="Shape 5"/>
          <p:cNvSpPr/>
          <p:nvPr/>
        </p:nvSpPr>
        <p:spPr>
          <a:xfrm>
            <a:off x="6172200" y="1371600"/>
            <a:ext cx="5212080" cy="1783080"/>
          </a:xfrm>
          <a:prstGeom prst="roundRect">
            <a:avLst>
              <a:gd name="adj" fmla="val 4103"/>
            </a:avLst>
          </a:prstGeom>
          <a:solidFill>
            <a:srgbClr val="463D34"/>
          </a:solidFill>
          <a:ln/>
        </p:spPr>
        <p:txBody>
          <a:bodyPr/>
          <a:lstStyle/>
          <a:p>
            <a:endParaRPr lang="en-US"/>
          </a:p>
        </p:txBody>
      </p:sp>
      <p:sp>
        <p:nvSpPr>
          <p:cNvPr id="8" name="Shape 6"/>
          <p:cNvSpPr/>
          <p:nvPr/>
        </p:nvSpPr>
        <p:spPr>
          <a:xfrm>
            <a:off x="6172200" y="1371600"/>
            <a:ext cx="73152" cy="1783080"/>
          </a:xfrm>
          <a:prstGeom prst="rect">
            <a:avLst/>
          </a:prstGeom>
          <a:solidFill>
            <a:srgbClr val="E97132"/>
          </a:solidFill>
          <a:ln/>
        </p:spPr>
        <p:txBody>
          <a:bodyPr/>
          <a:lstStyle/>
          <a:p>
            <a:endParaRPr lang="en-US"/>
          </a:p>
        </p:txBody>
      </p:sp>
      <p:sp>
        <p:nvSpPr>
          <p:cNvPr id="9" name="Text 7"/>
          <p:cNvSpPr/>
          <p:nvPr/>
        </p:nvSpPr>
        <p:spPr>
          <a:xfrm>
            <a:off x="6492240" y="1600200"/>
            <a:ext cx="4663440" cy="4572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GPT / Gemini API</a:t>
            </a:r>
            <a:endParaRPr lang="en-US" sz="1700" dirty="0"/>
          </a:p>
        </p:txBody>
      </p:sp>
      <p:sp>
        <p:nvSpPr>
          <p:cNvPr id="10" name="Text 8"/>
          <p:cNvSpPr/>
          <p:nvPr/>
        </p:nvSpPr>
        <p:spPr>
          <a:xfrm>
            <a:off x="6492240" y="2148840"/>
            <a:ext cx="4663440" cy="914400"/>
          </a:xfrm>
          <a:prstGeom prst="rect">
            <a:avLst/>
          </a:prstGeom>
          <a:noFill/>
          <a:ln/>
        </p:spPr>
        <p:txBody>
          <a:bodyPr wrap="square" lIns="0" tIns="0" rIns="0" bIns="0" rtlCol="0" anchor="ctr"/>
          <a:lstStyle/>
          <a:p>
            <a:pPr marL="0" indent="0">
              <a:lnSpc>
                <a:spcPct val="130000"/>
              </a:lnSpc>
              <a:buNone/>
            </a:pPr>
            <a:r>
              <a:rPr lang="en-US" sz="1250" dirty="0">
                <a:solidFill>
                  <a:srgbClr val="C9C2B8"/>
                </a:solidFill>
                <a:latin typeface="Calibri" pitchFamily="34" charset="0"/>
                <a:ea typeface="Calibri" pitchFamily="34" charset="-122"/>
                <a:cs typeface="Calibri" pitchFamily="34" charset="-120"/>
              </a:rPr>
              <a:t>Language model powering the email, planning and summarising features</a:t>
            </a:r>
            <a:endParaRPr lang="en-US" sz="1250" dirty="0"/>
          </a:p>
        </p:txBody>
      </p:sp>
      <p:sp>
        <p:nvSpPr>
          <p:cNvPr id="11" name="Shape 9"/>
          <p:cNvSpPr/>
          <p:nvPr/>
        </p:nvSpPr>
        <p:spPr>
          <a:xfrm>
            <a:off x="548640" y="3474720"/>
            <a:ext cx="5212080" cy="1783080"/>
          </a:xfrm>
          <a:prstGeom prst="roundRect">
            <a:avLst>
              <a:gd name="adj" fmla="val 4103"/>
            </a:avLst>
          </a:prstGeom>
          <a:solidFill>
            <a:srgbClr val="463D34"/>
          </a:solidFill>
          <a:ln/>
        </p:spPr>
        <p:txBody>
          <a:bodyPr/>
          <a:lstStyle/>
          <a:p>
            <a:endParaRPr lang="en-US"/>
          </a:p>
        </p:txBody>
      </p:sp>
      <p:sp>
        <p:nvSpPr>
          <p:cNvPr id="12" name="Shape 10"/>
          <p:cNvSpPr/>
          <p:nvPr/>
        </p:nvSpPr>
        <p:spPr>
          <a:xfrm>
            <a:off x="548640" y="3474720"/>
            <a:ext cx="73152" cy="1783080"/>
          </a:xfrm>
          <a:prstGeom prst="rect">
            <a:avLst/>
          </a:prstGeom>
          <a:solidFill>
            <a:srgbClr val="E97132"/>
          </a:solidFill>
          <a:ln/>
        </p:spPr>
        <p:txBody>
          <a:bodyPr/>
          <a:lstStyle/>
          <a:p>
            <a:endParaRPr lang="en-US"/>
          </a:p>
        </p:txBody>
      </p:sp>
      <p:sp>
        <p:nvSpPr>
          <p:cNvPr id="13" name="Text 11"/>
          <p:cNvSpPr/>
          <p:nvPr/>
        </p:nvSpPr>
        <p:spPr>
          <a:xfrm>
            <a:off x="868680" y="3703320"/>
            <a:ext cx="4663440" cy="4572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React + Tailwind CSS</a:t>
            </a:r>
            <a:endParaRPr lang="en-US" sz="1700" dirty="0"/>
          </a:p>
        </p:txBody>
      </p:sp>
      <p:sp>
        <p:nvSpPr>
          <p:cNvPr id="14" name="Text 12"/>
          <p:cNvSpPr/>
          <p:nvPr/>
        </p:nvSpPr>
        <p:spPr>
          <a:xfrm>
            <a:off x="868680" y="4251960"/>
            <a:ext cx="4663440" cy="914400"/>
          </a:xfrm>
          <a:prstGeom prst="rect">
            <a:avLst/>
          </a:prstGeom>
          <a:noFill/>
          <a:ln/>
        </p:spPr>
        <p:txBody>
          <a:bodyPr wrap="square" lIns="0" tIns="0" rIns="0" bIns="0" rtlCol="0" anchor="ctr"/>
          <a:lstStyle/>
          <a:p>
            <a:pPr marL="0" indent="0">
              <a:lnSpc>
                <a:spcPct val="130000"/>
              </a:lnSpc>
              <a:buNone/>
            </a:pPr>
            <a:r>
              <a:rPr lang="en-US" sz="1250" dirty="0">
                <a:solidFill>
                  <a:srgbClr val="C9C2B8"/>
                </a:solidFill>
                <a:latin typeface="Calibri" pitchFamily="34" charset="0"/>
                <a:ea typeface="Calibri" pitchFamily="34" charset="-122"/>
                <a:cs typeface="Calibri" pitchFamily="34" charset="-120"/>
              </a:rPr>
              <a:t>Front end framework and styling used under the hood by Lovable</a:t>
            </a:r>
            <a:endParaRPr lang="en-US" sz="1250" dirty="0"/>
          </a:p>
        </p:txBody>
      </p:sp>
      <p:sp>
        <p:nvSpPr>
          <p:cNvPr id="15" name="Shape 13"/>
          <p:cNvSpPr/>
          <p:nvPr/>
        </p:nvSpPr>
        <p:spPr>
          <a:xfrm>
            <a:off x="6172200" y="3474720"/>
            <a:ext cx="5212080" cy="1783080"/>
          </a:xfrm>
          <a:prstGeom prst="roundRect">
            <a:avLst>
              <a:gd name="adj" fmla="val 4103"/>
            </a:avLst>
          </a:prstGeom>
          <a:solidFill>
            <a:srgbClr val="463D34"/>
          </a:solidFill>
          <a:ln/>
        </p:spPr>
        <p:txBody>
          <a:bodyPr/>
          <a:lstStyle/>
          <a:p>
            <a:endParaRPr lang="en-US"/>
          </a:p>
        </p:txBody>
      </p:sp>
      <p:sp>
        <p:nvSpPr>
          <p:cNvPr id="16" name="Shape 14"/>
          <p:cNvSpPr/>
          <p:nvPr/>
        </p:nvSpPr>
        <p:spPr>
          <a:xfrm>
            <a:off x="6172200" y="3474720"/>
            <a:ext cx="73152" cy="1783080"/>
          </a:xfrm>
          <a:prstGeom prst="rect">
            <a:avLst/>
          </a:prstGeom>
          <a:solidFill>
            <a:srgbClr val="E97132"/>
          </a:solidFill>
          <a:ln/>
        </p:spPr>
        <p:txBody>
          <a:bodyPr/>
          <a:lstStyle/>
          <a:p>
            <a:endParaRPr lang="en-US"/>
          </a:p>
        </p:txBody>
      </p:sp>
      <p:sp>
        <p:nvSpPr>
          <p:cNvPr id="17" name="Text 15"/>
          <p:cNvSpPr/>
          <p:nvPr/>
        </p:nvSpPr>
        <p:spPr>
          <a:xfrm>
            <a:off x="6492240" y="3703320"/>
            <a:ext cx="4663440" cy="4572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GitHub</a:t>
            </a:r>
            <a:endParaRPr lang="en-US" sz="1700" dirty="0"/>
          </a:p>
        </p:txBody>
      </p:sp>
      <p:sp>
        <p:nvSpPr>
          <p:cNvPr id="18" name="Text 16"/>
          <p:cNvSpPr/>
          <p:nvPr/>
        </p:nvSpPr>
        <p:spPr>
          <a:xfrm>
            <a:off x="6492240" y="4251960"/>
            <a:ext cx="4663440" cy="914400"/>
          </a:xfrm>
          <a:prstGeom prst="rect">
            <a:avLst/>
          </a:prstGeom>
          <a:noFill/>
          <a:ln/>
        </p:spPr>
        <p:txBody>
          <a:bodyPr wrap="square" lIns="0" tIns="0" rIns="0" bIns="0" rtlCol="0" anchor="ctr"/>
          <a:lstStyle/>
          <a:p>
            <a:pPr marL="0" indent="0">
              <a:lnSpc>
                <a:spcPct val="130000"/>
              </a:lnSpc>
              <a:buNone/>
            </a:pPr>
            <a:r>
              <a:rPr lang="en-US" sz="1250" dirty="0">
                <a:solidFill>
                  <a:srgbClr val="C9C2B8"/>
                </a:solidFill>
                <a:latin typeface="Calibri" pitchFamily="34" charset="0"/>
                <a:ea typeface="Calibri" pitchFamily="34" charset="-122"/>
                <a:cs typeface="Calibri" pitchFamily="34" charset="-120"/>
              </a:rPr>
              <a:t>Version control, hosted via Lovable's two way GitHub sync</a:t>
            </a:r>
            <a:endParaRPr lang="en-US" sz="1250" dirty="0"/>
          </a:p>
        </p:txBody>
      </p:sp>
      <p:sp>
        <p:nvSpPr>
          <p:cNvPr id="19" name="Text 17"/>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C9C2B8"/>
                </a:solidFill>
                <a:latin typeface="Calibri" pitchFamily="34" charset="0"/>
                <a:ea typeface="Calibri" pitchFamily="34" charset="-122"/>
                <a:cs typeface="Calibri" pitchFamily="34" charset="-120"/>
              </a:rPr>
              <a:t>Flowdesk  |  CAPACITI AI Skills Acceleration Programme</a:t>
            </a:r>
            <a:endParaRPr lang="en-US" sz="900" dirty="0"/>
          </a:p>
        </p:txBody>
      </p:sp>
      <p:sp>
        <p:nvSpPr>
          <p:cNvPr id="20" name="Text 18"/>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00" dirty="0">
                <a:solidFill>
                  <a:srgbClr val="C9C2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lIns="0" tIns="0" rIns="0" bIns="0" rtlCol="0" anchor="ctr"/>
          <a:lstStyle/>
          <a:p>
            <a:pPr marL="0" indent="0">
              <a:buNone/>
            </a:pPr>
            <a:r>
              <a:rPr lang="en-US" sz="3000" b="1" dirty="0">
                <a:solidFill>
                  <a:srgbClr val="2B241F"/>
                </a:solidFill>
                <a:latin typeface="Calibri" pitchFamily="34" charset="0"/>
                <a:ea typeface="Calibri" pitchFamily="34" charset="-122"/>
                <a:cs typeface="Calibri" pitchFamily="34" charset="-120"/>
              </a:rPr>
              <a:t>Sample Prompts</a:t>
            </a:r>
            <a:endParaRPr lang="en-US" sz="3000" dirty="0"/>
          </a:p>
        </p:txBody>
      </p:sp>
      <p:sp>
        <p:nvSpPr>
          <p:cNvPr id="3" name="Text 1"/>
          <p:cNvSpPr/>
          <p:nvPr/>
        </p:nvSpPr>
        <p:spPr>
          <a:xfrm>
            <a:off x="548640" y="1097280"/>
            <a:ext cx="10058400" cy="365760"/>
          </a:xfrm>
          <a:prstGeom prst="rect">
            <a:avLst/>
          </a:prstGeom>
          <a:noFill/>
          <a:ln/>
        </p:spPr>
        <p:txBody>
          <a:bodyPr wrap="square" lIns="0" tIns="0" rIns="0" bIns="0" rtlCol="0" anchor="ctr"/>
          <a:lstStyle/>
          <a:p>
            <a:pPr marL="0" indent="0">
              <a:buNone/>
            </a:pPr>
            <a:r>
              <a:rPr lang="en-US" sz="1400" dirty="0">
                <a:solidFill>
                  <a:srgbClr val="8C8378"/>
                </a:solidFill>
                <a:latin typeface="Calibri" pitchFamily="34" charset="0"/>
                <a:ea typeface="Calibri" pitchFamily="34" charset="-122"/>
                <a:cs typeface="Calibri" pitchFamily="34" charset="-120"/>
              </a:rPr>
              <a:t>Example prompt structures used to generate each feature's output</a:t>
            </a:r>
            <a:endParaRPr lang="en-US" sz="1400" dirty="0"/>
          </a:p>
        </p:txBody>
      </p:sp>
      <p:sp>
        <p:nvSpPr>
          <p:cNvPr id="4" name="Shape 2"/>
          <p:cNvSpPr/>
          <p:nvPr/>
        </p:nvSpPr>
        <p:spPr>
          <a:xfrm>
            <a:off x="548640" y="1737360"/>
            <a:ext cx="11064240" cy="1371600"/>
          </a:xfrm>
          <a:prstGeom prst="roundRect">
            <a:avLst>
              <a:gd name="adj" fmla="val 5333"/>
            </a:avLst>
          </a:prstGeom>
          <a:solidFill>
            <a:srgbClr val="F4EFE9"/>
          </a:solidFill>
          <a:ln/>
        </p:spPr>
        <p:txBody>
          <a:bodyPr/>
          <a:lstStyle/>
          <a:p>
            <a:endParaRPr lang="en-US"/>
          </a:p>
        </p:txBody>
      </p:sp>
      <p:sp>
        <p:nvSpPr>
          <p:cNvPr id="5" name="Text 3"/>
          <p:cNvSpPr/>
          <p:nvPr/>
        </p:nvSpPr>
        <p:spPr>
          <a:xfrm>
            <a:off x="868680" y="1901952"/>
            <a:ext cx="2743200" cy="365760"/>
          </a:xfrm>
          <a:prstGeom prst="rect">
            <a:avLst/>
          </a:prstGeom>
          <a:noFill/>
          <a:ln/>
        </p:spPr>
        <p:txBody>
          <a:bodyPr wrap="square" lIns="0" tIns="0" rIns="0" bIns="0" rtlCol="0" anchor="ctr"/>
          <a:lstStyle/>
          <a:p>
            <a:pPr marL="0" indent="0">
              <a:buNone/>
            </a:pPr>
            <a:r>
              <a:rPr lang="en-US" sz="1400" b="1" dirty="0">
                <a:solidFill>
                  <a:srgbClr val="C25A1E"/>
                </a:solidFill>
                <a:latin typeface="Calibri" pitchFamily="34" charset="0"/>
                <a:ea typeface="Calibri" pitchFamily="34" charset="-122"/>
                <a:cs typeface="Calibri" pitchFamily="34" charset="-120"/>
              </a:rPr>
              <a:t>Email Generator</a:t>
            </a:r>
            <a:endParaRPr lang="en-US" sz="1400" dirty="0"/>
          </a:p>
        </p:txBody>
      </p:sp>
      <p:sp>
        <p:nvSpPr>
          <p:cNvPr id="6" name="Text 4"/>
          <p:cNvSpPr/>
          <p:nvPr/>
        </p:nvSpPr>
        <p:spPr>
          <a:xfrm>
            <a:off x="868680" y="2267712"/>
            <a:ext cx="10424160" cy="731520"/>
          </a:xfrm>
          <a:prstGeom prst="rect">
            <a:avLst/>
          </a:prstGeom>
          <a:noFill/>
          <a:ln/>
        </p:spPr>
        <p:txBody>
          <a:bodyPr wrap="square" lIns="0" tIns="0" rIns="0" bIns="0" rtlCol="0" anchor="ctr"/>
          <a:lstStyle/>
          <a:p>
            <a:pPr marL="0" indent="0">
              <a:lnSpc>
                <a:spcPct val="125000"/>
              </a:lnSpc>
              <a:buNone/>
            </a:pPr>
            <a:r>
              <a:rPr lang="en-US" sz="1300" i="1" dirty="0">
                <a:solidFill>
                  <a:srgbClr val="2B241F"/>
                </a:solidFill>
                <a:latin typeface="Calibri" pitchFamily="34" charset="0"/>
                <a:ea typeface="Calibri" pitchFamily="34" charset="-122"/>
                <a:cs typeface="Calibri" pitchFamily="34" charset="-120"/>
              </a:rPr>
              <a:t>"Write a formal follow up email to a recruiter after a technical assessment, thanking them and asking for a timeline on next steps."</a:t>
            </a:r>
            <a:endParaRPr lang="en-US" sz="1300" dirty="0"/>
          </a:p>
        </p:txBody>
      </p:sp>
      <p:sp>
        <p:nvSpPr>
          <p:cNvPr id="7" name="Shape 5"/>
          <p:cNvSpPr/>
          <p:nvPr/>
        </p:nvSpPr>
        <p:spPr>
          <a:xfrm>
            <a:off x="548640" y="3291840"/>
            <a:ext cx="11064240" cy="1371600"/>
          </a:xfrm>
          <a:prstGeom prst="roundRect">
            <a:avLst>
              <a:gd name="adj" fmla="val 5333"/>
            </a:avLst>
          </a:prstGeom>
          <a:solidFill>
            <a:srgbClr val="F4EFE9"/>
          </a:solidFill>
          <a:ln/>
        </p:spPr>
        <p:txBody>
          <a:bodyPr/>
          <a:lstStyle/>
          <a:p>
            <a:endParaRPr lang="en-US"/>
          </a:p>
        </p:txBody>
      </p:sp>
      <p:sp>
        <p:nvSpPr>
          <p:cNvPr id="8" name="Text 6"/>
          <p:cNvSpPr/>
          <p:nvPr/>
        </p:nvSpPr>
        <p:spPr>
          <a:xfrm>
            <a:off x="868680" y="3456432"/>
            <a:ext cx="2743200" cy="365760"/>
          </a:xfrm>
          <a:prstGeom prst="rect">
            <a:avLst/>
          </a:prstGeom>
          <a:noFill/>
          <a:ln/>
        </p:spPr>
        <p:txBody>
          <a:bodyPr wrap="square" lIns="0" tIns="0" rIns="0" bIns="0" rtlCol="0" anchor="ctr"/>
          <a:lstStyle/>
          <a:p>
            <a:pPr marL="0" indent="0">
              <a:buNone/>
            </a:pPr>
            <a:r>
              <a:rPr lang="en-US" sz="1400" b="1" dirty="0">
                <a:solidFill>
                  <a:srgbClr val="C25A1E"/>
                </a:solidFill>
                <a:latin typeface="Calibri" pitchFamily="34" charset="0"/>
                <a:ea typeface="Calibri" pitchFamily="34" charset="-122"/>
                <a:cs typeface="Calibri" pitchFamily="34" charset="-120"/>
              </a:rPr>
              <a:t>Task Planner</a:t>
            </a:r>
            <a:endParaRPr lang="en-US" sz="1400" dirty="0"/>
          </a:p>
        </p:txBody>
      </p:sp>
      <p:sp>
        <p:nvSpPr>
          <p:cNvPr id="9" name="Text 7"/>
          <p:cNvSpPr/>
          <p:nvPr/>
        </p:nvSpPr>
        <p:spPr>
          <a:xfrm>
            <a:off x="868680" y="3822192"/>
            <a:ext cx="10424160" cy="731520"/>
          </a:xfrm>
          <a:prstGeom prst="rect">
            <a:avLst/>
          </a:prstGeom>
          <a:noFill/>
          <a:ln/>
        </p:spPr>
        <p:txBody>
          <a:bodyPr wrap="square" lIns="0" tIns="0" rIns="0" bIns="0" rtlCol="0" anchor="ctr"/>
          <a:lstStyle/>
          <a:p>
            <a:pPr marL="0" indent="0">
              <a:lnSpc>
                <a:spcPct val="125000"/>
              </a:lnSpc>
              <a:buNone/>
            </a:pPr>
            <a:r>
              <a:rPr lang="en-US" sz="1300" i="1" dirty="0">
                <a:solidFill>
                  <a:srgbClr val="2B241F"/>
                </a:solidFill>
                <a:latin typeface="Calibri" pitchFamily="34" charset="0"/>
                <a:ea typeface="Calibri" pitchFamily="34" charset="-122"/>
                <a:cs typeface="Calibri" pitchFamily="34" charset="-120"/>
              </a:rPr>
              <a:t>"Given these five tasks and deadlines, return a prioritised daily plan ordered by urgency and importance, with a one line reason for each position."</a:t>
            </a:r>
            <a:endParaRPr lang="en-US" sz="1300" dirty="0"/>
          </a:p>
        </p:txBody>
      </p:sp>
      <p:sp>
        <p:nvSpPr>
          <p:cNvPr id="10" name="Shape 8"/>
          <p:cNvSpPr/>
          <p:nvPr/>
        </p:nvSpPr>
        <p:spPr>
          <a:xfrm>
            <a:off x="548640" y="4846320"/>
            <a:ext cx="11064240" cy="1371600"/>
          </a:xfrm>
          <a:prstGeom prst="roundRect">
            <a:avLst>
              <a:gd name="adj" fmla="val 5333"/>
            </a:avLst>
          </a:prstGeom>
          <a:solidFill>
            <a:srgbClr val="F4EFE9"/>
          </a:solidFill>
          <a:ln/>
        </p:spPr>
        <p:txBody>
          <a:bodyPr/>
          <a:lstStyle/>
          <a:p>
            <a:endParaRPr lang="en-US"/>
          </a:p>
        </p:txBody>
      </p:sp>
      <p:sp>
        <p:nvSpPr>
          <p:cNvPr id="11" name="Text 9"/>
          <p:cNvSpPr/>
          <p:nvPr/>
        </p:nvSpPr>
        <p:spPr>
          <a:xfrm>
            <a:off x="868680" y="5010912"/>
            <a:ext cx="2743200" cy="365760"/>
          </a:xfrm>
          <a:prstGeom prst="rect">
            <a:avLst/>
          </a:prstGeom>
          <a:noFill/>
          <a:ln/>
        </p:spPr>
        <p:txBody>
          <a:bodyPr wrap="square" lIns="0" tIns="0" rIns="0" bIns="0" rtlCol="0" anchor="ctr"/>
          <a:lstStyle/>
          <a:p>
            <a:pPr marL="0" indent="0">
              <a:buNone/>
            </a:pPr>
            <a:r>
              <a:rPr lang="en-US" sz="1400" b="1" dirty="0">
                <a:solidFill>
                  <a:srgbClr val="C25A1E"/>
                </a:solidFill>
                <a:latin typeface="Calibri" pitchFamily="34" charset="0"/>
                <a:ea typeface="Calibri" pitchFamily="34" charset="-122"/>
                <a:cs typeface="Calibri" pitchFamily="34" charset="-120"/>
              </a:rPr>
              <a:t>Research Assistant</a:t>
            </a:r>
            <a:endParaRPr lang="en-US" sz="1400" dirty="0"/>
          </a:p>
        </p:txBody>
      </p:sp>
      <p:sp>
        <p:nvSpPr>
          <p:cNvPr id="12" name="Text 10"/>
          <p:cNvSpPr/>
          <p:nvPr/>
        </p:nvSpPr>
        <p:spPr>
          <a:xfrm>
            <a:off x="868680" y="5376672"/>
            <a:ext cx="10424160" cy="731520"/>
          </a:xfrm>
          <a:prstGeom prst="rect">
            <a:avLst/>
          </a:prstGeom>
          <a:noFill/>
          <a:ln/>
        </p:spPr>
        <p:txBody>
          <a:bodyPr wrap="square" lIns="0" tIns="0" rIns="0" bIns="0" rtlCol="0" anchor="ctr"/>
          <a:lstStyle/>
          <a:p>
            <a:pPr marL="0" indent="0">
              <a:lnSpc>
                <a:spcPct val="125000"/>
              </a:lnSpc>
              <a:buNone/>
            </a:pPr>
            <a:r>
              <a:rPr lang="en-US" sz="1300" i="1" dirty="0">
                <a:solidFill>
                  <a:srgbClr val="2B241F"/>
                </a:solidFill>
                <a:latin typeface="Calibri" pitchFamily="34" charset="0"/>
                <a:ea typeface="Calibri" pitchFamily="34" charset="-122"/>
                <a:cs typeface="Calibri" pitchFamily="34" charset="-120"/>
              </a:rPr>
              <a:t>"Summarise this job posting into three key requirements and one recommendation on how to tailor my application."</a:t>
            </a:r>
            <a:endParaRPr lang="en-US" sz="1300" dirty="0"/>
          </a:p>
        </p:txBody>
      </p:sp>
      <p:sp>
        <p:nvSpPr>
          <p:cNvPr id="13" name="Text 11"/>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8C8378"/>
                </a:solidFill>
                <a:latin typeface="Calibri" pitchFamily="34" charset="0"/>
                <a:ea typeface="Calibri" pitchFamily="34" charset="-122"/>
                <a:cs typeface="Calibri" pitchFamily="34" charset="-120"/>
              </a:rPr>
              <a:t>Flowdesk  |  CAPACITI AI Skills Acceleration Programme</a:t>
            </a:r>
            <a:endParaRPr lang="en-US" sz="900" dirty="0"/>
          </a:p>
        </p:txBody>
      </p:sp>
      <p:sp>
        <p:nvSpPr>
          <p:cNvPr id="14" name="Text 12"/>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00" dirty="0">
                <a:solidFill>
                  <a:srgbClr val="8C83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lIns="0" tIns="0" rIns="0" bIns="0" rtlCol="0" anchor="ctr"/>
          <a:lstStyle/>
          <a:p>
            <a:pPr marL="0" indent="0">
              <a:buNone/>
            </a:pPr>
            <a:r>
              <a:rPr lang="en-US" sz="3000" b="1" dirty="0">
                <a:solidFill>
                  <a:srgbClr val="2B241F"/>
                </a:solidFill>
                <a:latin typeface="Calibri" pitchFamily="34" charset="0"/>
                <a:ea typeface="Calibri" pitchFamily="34" charset="-122"/>
                <a:cs typeface="Calibri" pitchFamily="34" charset="-120"/>
              </a:rPr>
              <a:t>Responsible AI</a:t>
            </a:r>
            <a:endParaRPr lang="en-US" sz="3000" dirty="0"/>
          </a:p>
        </p:txBody>
      </p:sp>
      <p:sp>
        <p:nvSpPr>
          <p:cNvPr id="3" name="Text 1"/>
          <p:cNvSpPr/>
          <p:nvPr/>
        </p:nvSpPr>
        <p:spPr>
          <a:xfrm>
            <a:off x="548640" y="1234440"/>
            <a:ext cx="10515600" cy="548640"/>
          </a:xfrm>
          <a:prstGeom prst="rect">
            <a:avLst/>
          </a:prstGeom>
          <a:noFill/>
          <a:ln/>
        </p:spPr>
        <p:txBody>
          <a:bodyPr wrap="square" lIns="0" tIns="0" rIns="0" bIns="0" rtlCol="0" anchor="ctr"/>
          <a:lstStyle/>
          <a:p>
            <a:pPr marL="0" indent="0">
              <a:buNone/>
            </a:pPr>
            <a:r>
              <a:rPr lang="en-US" sz="1500" dirty="0">
                <a:solidFill>
                  <a:srgbClr val="2B241F"/>
                </a:solidFill>
                <a:latin typeface="Calibri" pitchFamily="34" charset="0"/>
                <a:ea typeface="Calibri" pitchFamily="34" charset="-122"/>
                <a:cs typeface="Calibri" pitchFamily="34" charset="-120"/>
              </a:rPr>
              <a:t>Flowdesk is built with awareness of AI's limitations. It is designed to assist, not replace, human judgement.</a:t>
            </a:r>
            <a:endParaRPr lang="en-US" sz="1500" dirty="0"/>
          </a:p>
        </p:txBody>
      </p:sp>
      <p:sp>
        <p:nvSpPr>
          <p:cNvPr id="4" name="Shape 2"/>
          <p:cNvSpPr/>
          <p:nvPr/>
        </p:nvSpPr>
        <p:spPr>
          <a:xfrm>
            <a:off x="548640" y="2011680"/>
            <a:ext cx="5212080" cy="1691640"/>
          </a:xfrm>
          <a:prstGeom prst="roundRect">
            <a:avLst>
              <a:gd name="adj" fmla="val 4324"/>
            </a:avLst>
          </a:prstGeom>
          <a:solidFill>
            <a:srgbClr val="F4EFE9"/>
          </a:solidFill>
          <a:ln/>
        </p:spPr>
        <p:txBody>
          <a:bodyPr/>
          <a:lstStyle/>
          <a:p>
            <a:endParaRPr lang="en-US"/>
          </a:p>
        </p:txBody>
      </p:sp>
      <p:sp>
        <p:nvSpPr>
          <p:cNvPr id="5" name="Text 3"/>
          <p:cNvSpPr/>
          <p:nvPr/>
        </p:nvSpPr>
        <p:spPr>
          <a:xfrm>
            <a:off x="822960" y="2194560"/>
            <a:ext cx="4663440" cy="365760"/>
          </a:xfrm>
          <a:prstGeom prst="rect">
            <a:avLst/>
          </a:prstGeom>
          <a:noFill/>
          <a:ln/>
        </p:spPr>
        <p:txBody>
          <a:bodyPr wrap="square" lIns="0" tIns="0" rIns="0" bIns="0" rtlCol="0" anchor="ctr"/>
          <a:lstStyle/>
          <a:p>
            <a:pPr marL="0" indent="0">
              <a:buNone/>
            </a:pPr>
            <a:r>
              <a:rPr lang="en-US" sz="1450" b="1" dirty="0">
                <a:solidFill>
                  <a:srgbClr val="2B241F"/>
                </a:solidFill>
                <a:latin typeface="Calibri" pitchFamily="34" charset="0"/>
                <a:ea typeface="Calibri" pitchFamily="34" charset="-122"/>
                <a:cs typeface="Calibri" pitchFamily="34" charset="-120"/>
              </a:rPr>
              <a:t>Human review required</a:t>
            </a:r>
            <a:endParaRPr lang="en-US" sz="1450" dirty="0"/>
          </a:p>
        </p:txBody>
      </p:sp>
      <p:sp>
        <p:nvSpPr>
          <p:cNvPr id="6" name="Text 4"/>
          <p:cNvSpPr/>
          <p:nvPr/>
        </p:nvSpPr>
        <p:spPr>
          <a:xfrm>
            <a:off x="822960" y="2606040"/>
            <a:ext cx="4663440" cy="1005840"/>
          </a:xfrm>
          <a:prstGeom prst="rect">
            <a:avLst/>
          </a:prstGeom>
          <a:noFill/>
          <a:ln/>
        </p:spPr>
        <p:txBody>
          <a:bodyPr wrap="square" lIns="0" tIns="0" rIns="0" bIns="0" rtlCol="0" anchor="ctr"/>
          <a:lstStyle/>
          <a:p>
            <a:pPr marL="0" indent="0">
              <a:lnSpc>
                <a:spcPct val="125000"/>
              </a:lnSpc>
              <a:buNone/>
            </a:pPr>
            <a:r>
              <a:rPr lang="en-US" sz="1200" dirty="0">
                <a:solidFill>
                  <a:srgbClr val="8C8378"/>
                </a:solidFill>
                <a:latin typeface="Calibri" pitchFamily="34" charset="0"/>
                <a:ea typeface="Calibri" pitchFamily="34" charset="-122"/>
                <a:cs typeface="Calibri" pitchFamily="34" charset="-120"/>
              </a:rPr>
              <a:t>Every AI generated email and plan is shown as editable text before it is used, never sent automatically</a:t>
            </a:r>
            <a:endParaRPr lang="en-US" sz="1200" dirty="0"/>
          </a:p>
        </p:txBody>
      </p:sp>
      <p:sp>
        <p:nvSpPr>
          <p:cNvPr id="7" name="Shape 5"/>
          <p:cNvSpPr/>
          <p:nvPr/>
        </p:nvSpPr>
        <p:spPr>
          <a:xfrm>
            <a:off x="6172200" y="2011680"/>
            <a:ext cx="5212080" cy="1691640"/>
          </a:xfrm>
          <a:prstGeom prst="roundRect">
            <a:avLst>
              <a:gd name="adj" fmla="val 4324"/>
            </a:avLst>
          </a:prstGeom>
          <a:solidFill>
            <a:srgbClr val="F4EFE9"/>
          </a:solidFill>
          <a:ln/>
        </p:spPr>
        <p:txBody>
          <a:bodyPr/>
          <a:lstStyle/>
          <a:p>
            <a:endParaRPr lang="en-US"/>
          </a:p>
        </p:txBody>
      </p:sp>
      <p:sp>
        <p:nvSpPr>
          <p:cNvPr id="8" name="Text 6"/>
          <p:cNvSpPr/>
          <p:nvPr/>
        </p:nvSpPr>
        <p:spPr>
          <a:xfrm>
            <a:off x="6446520" y="2194560"/>
            <a:ext cx="4663440" cy="365760"/>
          </a:xfrm>
          <a:prstGeom prst="rect">
            <a:avLst/>
          </a:prstGeom>
          <a:noFill/>
          <a:ln/>
        </p:spPr>
        <p:txBody>
          <a:bodyPr wrap="square" lIns="0" tIns="0" rIns="0" bIns="0" rtlCol="0" anchor="ctr"/>
          <a:lstStyle/>
          <a:p>
            <a:pPr marL="0" indent="0">
              <a:buNone/>
            </a:pPr>
            <a:r>
              <a:rPr lang="en-US" sz="1450" b="1" dirty="0">
                <a:solidFill>
                  <a:srgbClr val="2B241F"/>
                </a:solidFill>
                <a:latin typeface="Calibri" pitchFamily="34" charset="0"/>
                <a:ea typeface="Calibri" pitchFamily="34" charset="-122"/>
                <a:cs typeface="Calibri" pitchFamily="34" charset="-120"/>
              </a:rPr>
              <a:t>Bias awareness</a:t>
            </a:r>
            <a:endParaRPr lang="en-US" sz="1450" dirty="0"/>
          </a:p>
        </p:txBody>
      </p:sp>
      <p:sp>
        <p:nvSpPr>
          <p:cNvPr id="9" name="Text 7"/>
          <p:cNvSpPr/>
          <p:nvPr/>
        </p:nvSpPr>
        <p:spPr>
          <a:xfrm>
            <a:off x="6446520" y="2606040"/>
            <a:ext cx="4663440" cy="1005840"/>
          </a:xfrm>
          <a:prstGeom prst="rect">
            <a:avLst/>
          </a:prstGeom>
          <a:noFill/>
          <a:ln/>
        </p:spPr>
        <p:txBody>
          <a:bodyPr wrap="square" lIns="0" tIns="0" rIns="0" bIns="0" rtlCol="0" anchor="ctr"/>
          <a:lstStyle/>
          <a:p>
            <a:pPr marL="0" indent="0">
              <a:lnSpc>
                <a:spcPct val="125000"/>
              </a:lnSpc>
              <a:buNone/>
            </a:pPr>
            <a:r>
              <a:rPr lang="en-US" sz="1200" dirty="0">
                <a:solidFill>
                  <a:srgbClr val="8C8378"/>
                </a:solidFill>
                <a:latin typeface="Calibri" pitchFamily="34" charset="0"/>
                <a:ea typeface="Calibri" pitchFamily="34" charset="-122"/>
                <a:cs typeface="Calibri" pitchFamily="34" charset="-120"/>
              </a:rPr>
              <a:t>Outputs are treated as a starting draft, since AI models can reflect bias in tone or phrasing</a:t>
            </a:r>
            <a:endParaRPr lang="en-US" sz="1200" dirty="0"/>
          </a:p>
        </p:txBody>
      </p:sp>
      <p:sp>
        <p:nvSpPr>
          <p:cNvPr id="10" name="Shape 8"/>
          <p:cNvSpPr/>
          <p:nvPr/>
        </p:nvSpPr>
        <p:spPr>
          <a:xfrm>
            <a:off x="548640" y="3977640"/>
            <a:ext cx="5212080" cy="1691640"/>
          </a:xfrm>
          <a:prstGeom prst="roundRect">
            <a:avLst>
              <a:gd name="adj" fmla="val 4324"/>
            </a:avLst>
          </a:prstGeom>
          <a:solidFill>
            <a:srgbClr val="F4EFE9"/>
          </a:solidFill>
          <a:ln/>
        </p:spPr>
        <p:txBody>
          <a:bodyPr/>
          <a:lstStyle/>
          <a:p>
            <a:endParaRPr lang="en-US"/>
          </a:p>
        </p:txBody>
      </p:sp>
      <p:sp>
        <p:nvSpPr>
          <p:cNvPr id="11" name="Text 9"/>
          <p:cNvSpPr/>
          <p:nvPr/>
        </p:nvSpPr>
        <p:spPr>
          <a:xfrm>
            <a:off x="822960" y="4160520"/>
            <a:ext cx="4663440" cy="365760"/>
          </a:xfrm>
          <a:prstGeom prst="rect">
            <a:avLst/>
          </a:prstGeom>
          <a:noFill/>
          <a:ln/>
        </p:spPr>
        <p:txBody>
          <a:bodyPr wrap="square" lIns="0" tIns="0" rIns="0" bIns="0" rtlCol="0" anchor="ctr"/>
          <a:lstStyle/>
          <a:p>
            <a:pPr marL="0" indent="0">
              <a:buNone/>
            </a:pPr>
            <a:r>
              <a:rPr lang="en-US" sz="1450" b="1" dirty="0">
                <a:solidFill>
                  <a:srgbClr val="2B241F"/>
                </a:solidFill>
                <a:latin typeface="Calibri" pitchFamily="34" charset="0"/>
                <a:ea typeface="Calibri" pitchFamily="34" charset="-122"/>
                <a:cs typeface="Calibri" pitchFamily="34" charset="-120"/>
              </a:rPr>
              <a:t>Transparency</a:t>
            </a:r>
            <a:endParaRPr lang="en-US" sz="1450" dirty="0"/>
          </a:p>
        </p:txBody>
      </p:sp>
      <p:sp>
        <p:nvSpPr>
          <p:cNvPr id="12" name="Text 10"/>
          <p:cNvSpPr/>
          <p:nvPr/>
        </p:nvSpPr>
        <p:spPr>
          <a:xfrm>
            <a:off x="822960" y="4572000"/>
            <a:ext cx="4663440" cy="1005840"/>
          </a:xfrm>
          <a:prstGeom prst="rect">
            <a:avLst/>
          </a:prstGeom>
          <a:noFill/>
          <a:ln/>
        </p:spPr>
        <p:txBody>
          <a:bodyPr wrap="square" lIns="0" tIns="0" rIns="0" bIns="0" rtlCol="0" anchor="ctr"/>
          <a:lstStyle/>
          <a:p>
            <a:pPr marL="0" indent="0">
              <a:lnSpc>
                <a:spcPct val="125000"/>
              </a:lnSpc>
              <a:buNone/>
            </a:pPr>
            <a:r>
              <a:rPr lang="en-US" sz="1200" dirty="0">
                <a:solidFill>
                  <a:srgbClr val="8C8378"/>
                </a:solidFill>
                <a:latin typeface="Calibri" pitchFamily="34" charset="0"/>
                <a:ea typeface="Calibri" pitchFamily="34" charset="-122"/>
                <a:cs typeface="Calibri" pitchFamily="34" charset="-120"/>
              </a:rPr>
              <a:t>A clear disclaimer is shown reminding users to review AI generated content before relying on it</a:t>
            </a:r>
            <a:endParaRPr lang="en-US" sz="1200" dirty="0"/>
          </a:p>
        </p:txBody>
      </p:sp>
      <p:sp>
        <p:nvSpPr>
          <p:cNvPr id="13" name="Shape 11"/>
          <p:cNvSpPr/>
          <p:nvPr/>
        </p:nvSpPr>
        <p:spPr>
          <a:xfrm>
            <a:off x="6172200" y="3977640"/>
            <a:ext cx="5212080" cy="1691640"/>
          </a:xfrm>
          <a:prstGeom prst="roundRect">
            <a:avLst>
              <a:gd name="adj" fmla="val 4324"/>
            </a:avLst>
          </a:prstGeom>
          <a:solidFill>
            <a:srgbClr val="F4EFE9"/>
          </a:solidFill>
          <a:ln/>
        </p:spPr>
        <p:txBody>
          <a:bodyPr/>
          <a:lstStyle/>
          <a:p>
            <a:endParaRPr lang="en-US"/>
          </a:p>
        </p:txBody>
      </p:sp>
      <p:sp>
        <p:nvSpPr>
          <p:cNvPr id="14" name="Text 12"/>
          <p:cNvSpPr/>
          <p:nvPr/>
        </p:nvSpPr>
        <p:spPr>
          <a:xfrm>
            <a:off x="6446520" y="4160520"/>
            <a:ext cx="4663440" cy="365760"/>
          </a:xfrm>
          <a:prstGeom prst="rect">
            <a:avLst/>
          </a:prstGeom>
          <a:noFill/>
          <a:ln/>
        </p:spPr>
        <p:txBody>
          <a:bodyPr wrap="square" lIns="0" tIns="0" rIns="0" bIns="0" rtlCol="0" anchor="ctr"/>
          <a:lstStyle/>
          <a:p>
            <a:pPr marL="0" indent="0">
              <a:buNone/>
            </a:pPr>
            <a:r>
              <a:rPr lang="en-US" sz="1450" b="1" dirty="0">
                <a:solidFill>
                  <a:srgbClr val="2B241F"/>
                </a:solidFill>
                <a:latin typeface="Calibri" pitchFamily="34" charset="0"/>
                <a:ea typeface="Calibri" pitchFamily="34" charset="-122"/>
                <a:cs typeface="Calibri" pitchFamily="34" charset="-120"/>
              </a:rPr>
              <a:t>Data handling</a:t>
            </a:r>
            <a:endParaRPr lang="en-US" sz="1450" dirty="0"/>
          </a:p>
        </p:txBody>
      </p:sp>
      <p:sp>
        <p:nvSpPr>
          <p:cNvPr id="15" name="Text 13"/>
          <p:cNvSpPr/>
          <p:nvPr/>
        </p:nvSpPr>
        <p:spPr>
          <a:xfrm>
            <a:off x="6446520" y="4572000"/>
            <a:ext cx="4663440" cy="1005840"/>
          </a:xfrm>
          <a:prstGeom prst="rect">
            <a:avLst/>
          </a:prstGeom>
          <a:noFill/>
          <a:ln/>
        </p:spPr>
        <p:txBody>
          <a:bodyPr wrap="square" lIns="0" tIns="0" rIns="0" bIns="0" rtlCol="0" anchor="ctr"/>
          <a:lstStyle/>
          <a:p>
            <a:pPr marL="0" indent="0">
              <a:lnSpc>
                <a:spcPct val="125000"/>
              </a:lnSpc>
              <a:buNone/>
            </a:pPr>
            <a:r>
              <a:rPr lang="en-US" sz="1200" dirty="0">
                <a:solidFill>
                  <a:srgbClr val="8C8378"/>
                </a:solidFill>
                <a:latin typeface="Calibri" pitchFamily="34" charset="0"/>
                <a:ea typeface="Calibri" pitchFamily="34" charset="-122"/>
                <a:cs typeface="Calibri" pitchFamily="34" charset="-120"/>
              </a:rPr>
              <a:t>No personal or client data is stored by the application, all processing happens per session</a:t>
            </a:r>
            <a:endParaRPr lang="en-US" sz="1200" dirty="0"/>
          </a:p>
        </p:txBody>
      </p:sp>
      <p:sp>
        <p:nvSpPr>
          <p:cNvPr id="16" name="Text 14"/>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8C8378"/>
                </a:solidFill>
                <a:latin typeface="Calibri" pitchFamily="34" charset="0"/>
                <a:ea typeface="Calibri" pitchFamily="34" charset="-122"/>
                <a:cs typeface="Calibri" pitchFamily="34" charset="-120"/>
              </a:rPr>
              <a:t>Flowdesk  |  CAPACITI AI Skills Acceleration Programme</a:t>
            </a:r>
            <a:endParaRPr lang="en-US" sz="900" dirty="0"/>
          </a:p>
        </p:txBody>
      </p:sp>
      <p:sp>
        <p:nvSpPr>
          <p:cNvPr id="17" name="Text 15"/>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00" dirty="0">
                <a:solidFill>
                  <a:srgbClr val="8C83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A332C"/>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54864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Challenges and Solutions</a:t>
            </a:r>
            <a:endParaRPr lang="en-US" sz="3000" dirty="0"/>
          </a:p>
        </p:txBody>
      </p:sp>
      <p:sp>
        <p:nvSpPr>
          <p:cNvPr id="3" name="Shape 1"/>
          <p:cNvSpPr/>
          <p:nvPr/>
        </p:nvSpPr>
        <p:spPr>
          <a:xfrm>
            <a:off x="548640" y="1371600"/>
            <a:ext cx="11064240" cy="1508760"/>
          </a:xfrm>
          <a:prstGeom prst="roundRect">
            <a:avLst>
              <a:gd name="adj" fmla="val 4848"/>
            </a:avLst>
          </a:prstGeom>
          <a:solidFill>
            <a:srgbClr val="463D34"/>
          </a:solidFill>
          <a:ln/>
        </p:spPr>
        <p:txBody>
          <a:bodyPr/>
          <a:lstStyle/>
          <a:p>
            <a:endParaRPr lang="en-US"/>
          </a:p>
        </p:txBody>
      </p:sp>
      <p:sp>
        <p:nvSpPr>
          <p:cNvPr id="4" name="Text 2"/>
          <p:cNvSpPr/>
          <p:nvPr/>
        </p:nvSpPr>
        <p:spPr>
          <a:xfrm>
            <a:off x="868680" y="1536192"/>
            <a:ext cx="2377440" cy="1188720"/>
          </a:xfrm>
          <a:prstGeom prst="rect">
            <a:avLst/>
          </a:prstGeom>
          <a:noFill/>
          <a:ln/>
        </p:spPr>
        <p:txBody>
          <a:bodyPr wrap="square" lIns="0" tIns="0" rIns="0" bIns="0" rtlCol="0" anchor="t"/>
          <a:lstStyle/>
          <a:p>
            <a:pPr marL="0" indent="0">
              <a:buNone/>
            </a:pPr>
            <a:r>
              <a:rPr lang="en-US" sz="1500" b="1" dirty="0">
                <a:solidFill>
                  <a:srgbClr val="E97132"/>
                </a:solidFill>
                <a:latin typeface="Calibri" pitchFamily="34" charset="0"/>
                <a:ea typeface="Calibri" pitchFamily="34" charset="-122"/>
                <a:cs typeface="Calibri" pitchFamily="34" charset="-120"/>
              </a:rPr>
              <a:t>Prompt accuracy</a:t>
            </a:r>
            <a:endParaRPr lang="en-US" sz="1500" dirty="0"/>
          </a:p>
        </p:txBody>
      </p:sp>
      <p:sp>
        <p:nvSpPr>
          <p:cNvPr id="5" name="Text 3"/>
          <p:cNvSpPr/>
          <p:nvPr/>
        </p:nvSpPr>
        <p:spPr>
          <a:xfrm>
            <a:off x="3429000" y="1536192"/>
            <a:ext cx="3566160" cy="1188720"/>
          </a:xfrm>
          <a:prstGeom prst="rect">
            <a:avLst/>
          </a:prstGeom>
          <a:noFill/>
          <a:ln/>
        </p:spPr>
        <p:txBody>
          <a:bodyPr wrap="square" lIns="0" tIns="0" rIns="0" bIns="0" rtlCol="0" anchor="t"/>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Challenge: Early outputs were too generic</a:t>
            </a:r>
            <a:endParaRPr lang="en-US" sz="1200" dirty="0"/>
          </a:p>
        </p:txBody>
      </p:sp>
      <p:sp>
        <p:nvSpPr>
          <p:cNvPr id="6" name="Text 4"/>
          <p:cNvSpPr/>
          <p:nvPr/>
        </p:nvSpPr>
        <p:spPr>
          <a:xfrm>
            <a:off x="7178040" y="1536192"/>
            <a:ext cx="4206240" cy="1188720"/>
          </a:xfrm>
          <a:prstGeom prst="rect">
            <a:avLst/>
          </a:prstGeom>
          <a:noFill/>
          <a:ln/>
        </p:spPr>
        <p:txBody>
          <a:bodyPr wrap="square" lIns="0" tIns="0" rIns="0" bIns="0" rtlCol="0" anchor="t"/>
          <a:lstStyle/>
          <a:p>
            <a:pPr marL="0" indent="0">
              <a:lnSpc>
                <a:spcPct val="125000"/>
              </a:lnSpc>
              <a:buNone/>
            </a:pPr>
            <a:r>
              <a:rPr lang="en-US" sz="1200" dirty="0">
                <a:solidFill>
                  <a:srgbClr val="C9C2B8"/>
                </a:solidFill>
                <a:latin typeface="Calibri" pitchFamily="34" charset="0"/>
                <a:ea typeface="Calibri" pitchFamily="34" charset="-122"/>
                <a:cs typeface="Calibri" pitchFamily="34" charset="-120"/>
              </a:rPr>
              <a:t>Solution: Refined prompts to include specific context like tone and audience, improving relevance</a:t>
            </a:r>
            <a:endParaRPr lang="en-US" sz="1200" dirty="0"/>
          </a:p>
        </p:txBody>
      </p:sp>
      <p:sp>
        <p:nvSpPr>
          <p:cNvPr id="7" name="Shape 5"/>
          <p:cNvSpPr/>
          <p:nvPr/>
        </p:nvSpPr>
        <p:spPr>
          <a:xfrm>
            <a:off x="548640" y="3063240"/>
            <a:ext cx="11064240" cy="1508760"/>
          </a:xfrm>
          <a:prstGeom prst="roundRect">
            <a:avLst>
              <a:gd name="adj" fmla="val 4848"/>
            </a:avLst>
          </a:prstGeom>
          <a:solidFill>
            <a:srgbClr val="463D34"/>
          </a:solidFill>
          <a:ln/>
        </p:spPr>
        <p:txBody>
          <a:bodyPr/>
          <a:lstStyle/>
          <a:p>
            <a:endParaRPr lang="en-US"/>
          </a:p>
        </p:txBody>
      </p:sp>
      <p:sp>
        <p:nvSpPr>
          <p:cNvPr id="8" name="Text 6"/>
          <p:cNvSpPr/>
          <p:nvPr/>
        </p:nvSpPr>
        <p:spPr>
          <a:xfrm>
            <a:off x="868680" y="3227832"/>
            <a:ext cx="2377440" cy="1188720"/>
          </a:xfrm>
          <a:prstGeom prst="rect">
            <a:avLst/>
          </a:prstGeom>
          <a:noFill/>
          <a:ln/>
        </p:spPr>
        <p:txBody>
          <a:bodyPr wrap="square" lIns="0" tIns="0" rIns="0" bIns="0" rtlCol="0" anchor="t"/>
          <a:lstStyle/>
          <a:p>
            <a:pPr marL="0" indent="0">
              <a:buNone/>
            </a:pPr>
            <a:r>
              <a:rPr lang="en-US" sz="1500" b="1" dirty="0">
                <a:solidFill>
                  <a:srgbClr val="E97132"/>
                </a:solidFill>
                <a:latin typeface="Calibri" pitchFamily="34" charset="0"/>
                <a:ea typeface="Calibri" pitchFamily="34" charset="-122"/>
                <a:cs typeface="Calibri" pitchFamily="34" charset="-120"/>
              </a:rPr>
              <a:t>Scope control</a:t>
            </a:r>
            <a:endParaRPr lang="en-US" sz="1500" dirty="0"/>
          </a:p>
        </p:txBody>
      </p:sp>
      <p:sp>
        <p:nvSpPr>
          <p:cNvPr id="9" name="Text 7"/>
          <p:cNvSpPr/>
          <p:nvPr/>
        </p:nvSpPr>
        <p:spPr>
          <a:xfrm>
            <a:off x="3429000" y="3227832"/>
            <a:ext cx="3566160" cy="1188720"/>
          </a:xfrm>
          <a:prstGeom prst="rect">
            <a:avLst/>
          </a:prstGeom>
          <a:noFill/>
          <a:ln/>
        </p:spPr>
        <p:txBody>
          <a:bodyPr wrap="square" lIns="0" tIns="0" rIns="0" bIns="0" rtlCol="0" anchor="t"/>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Challenge: Five possible features risked spreading the build too thin</a:t>
            </a:r>
            <a:endParaRPr lang="en-US" sz="1200" dirty="0"/>
          </a:p>
        </p:txBody>
      </p:sp>
      <p:sp>
        <p:nvSpPr>
          <p:cNvPr id="10" name="Text 8"/>
          <p:cNvSpPr/>
          <p:nvPr/>
        </p:nvSpPr>
        <p:spPr>
          <a:xfrm>
            <a:off x="7178040" y="3227832"/>
            <a:ext cx="4206240" cy="1188720"/>
          </a:xfrm>
          <a:prstGeom prst="rect">
            <a:avLst/>
          </a:prstGeom>
          <a:noFill/>
          <a:ln/>
        </p:spPr>
        <p:txBody>
          <a:bodyPr wrap="square" lIns="0" tIns="0" rIns="0" bIns="0" rtlCol="0" anchor="t"/>
          <a:lstStyle/>
          <a:p>
            <a:pPr marL="0" indent="0">
              <a:lnSpc>
                <a:spcPct val="125000"/>
              </a:lnSpc>
              <a:buNone/>
            </a:pPr>
            <a:r>
              <a:rPr lang="en-US" sz="1200" dirty="0">
                <a:solidFill>
                  <a:srgbClr val="C9C2B8"/>
                </a:solidFill>
                <a:latin typeface="Calibri" pitchFamily="34" charset="0"/>
                <a:ea typeface="Calibri" pitchFamily="34" charset="-122"/>
                <a:cs typeface="Calibri" pitchFamily="34" charset="-120"/>
              </a:rPr>
              <a:t>Solution: Focused on three features that map to a real daily workflow instead of building all five</a:t>
            </a:r>
            <a:endParaRPr lang="en-US" sz="1200" dirty="0"/>
          </a:p>
        </p:txBody>
      </p:sp>
      <p:sp>
        <p:nvSpPr>
          <p:cNvPr id="11" name="Shape 9"/>
          <p:cNvSpPr/>
          <p:nvPr/>
        </p:nvSpPr>
        <p:spPr>
          <a:xfrm>
            <a:off x="548640" y="4754880"/>
            <a:ext cx="11064240" cy="1508760"/>
          </a:xfrm>
          <a:prstGeom prst="roundRect">
            <a:avLst>
              <a:gd name="adj" fmla="val 4848"/>
            </a:avLst>
          </a:prstGeom>
          <a:solidFill>
            <a:srgbClr val="463D34"/>
          </a:solidFill>
          <a:ln/>
        </p:spPr>
        <p:txBody>
          <a:bodyPr/>
          <a:lstStyle/>
          <a:p>
            <a:endParaRPr lang="en-US"/>
          </a:p>
        </p:txBody>
      </p:sp>
      <p:sp>
        <p:nvSpPr>
          <p:cNvPr id="12" name="Text 10"/>
          <p:cNvSpPr/>
          <p:nvPr/>
        </p:nvSpPr>
        <p:spPr>
          <a:xfrm>
            <a:off x="868680" y="4919472"/>
            <a:ext cx="2377440" cy="1188720"/>
          </a:xfrm>
          <a:prstGeom prst="rect">
            <a:avLst/>
          </a:prstGeom>
          <a:noFill/>
          <a:ln/>
        </p:spPr>
        <p:txBody>
          <a:bodyPr wrap="square" lIns="0" tIns="0" rIns="0" bIns="0" rtlCol="0" anchor="t"/>
          <a:lstStyle/>
          <a:p>
            <a:pPr marL="0" indent="0">
              <a:buNone/>
            </a:pPr>
            <a:r>
              <a:rPr lang="en-US" sz="1500" b="1" dirty="0">
                <a:solidFill>
                  <a:srgbClr val="E97132"/>
                </a:solidFill>
                <a:latin typeface="Calibri" pitchFamily="34" charset="0"/>
                <a:ea typeface="Calibri" pitchFamily="34" charset="-122"/>
                <a:cs typeface="Calibri" pitchFamily="34" charset="-120"/>
              </a:rPr>
              <a:t>Responsible use</a:t>
            </a:r>
            <a:endParaRPr lang="en-US" sz="1500" dirty="0"/>
          </a:p>
        </p:txBody>
      </p:sp>
      <p:sp>
        <p:nvSpPr>
          <p:cNvPr id="13" name="Text 11"/>
          <p:cNvSpPr/>
          <p:nvPr/>
        </p:nvSpPr>
        <p:spPr>
          <a:xfrm>
            <a:off x="3429000" y="4919472"/>
            <a:ext cx="3566160" cy="1188720"/>
          </a:xfrm>
          <a:prstGeom prst="rect">
            <a:avLst/>
          </a:prstGeom>
          <a:noFill/>
          <a:ln/>
        </p:spPr>
        <p:txBody>
          <a:bodyPr wrap="square" lIns="0" tIns="0" rIns="0" bIns="0" rtlCol="0" anchor="t"/>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Challenge: Risk of users trusting AI output blindly</a:t>
            </a:r>
            <a:endParaRPr lang="en-US" sz="1200" dirty="0"/>
          </a:p>
        </p:txBody>
      </p:sp>
      <p:sp>
        <p:nvSpPr>
          <p:cNvPr id="14" name="Text 12"/>
          <p:cNvSpPr/>
          <p:nvPr/>
        </p:nvSpPr>
        <p:spPr>
          <a:xfrm>
            <a:off x="7178040" y="4919472"/>
            <a:ext cx="4206240" cy="1188720"/>
          </a:xfrm>
          <a:prstGeom prst="rect">
            <a:avLst/>
          </a:prstGeom>
          <a:noFill/>
          <a:ln/>
        </p:spPr>
        <p:txBody>
          <a:bodyPr wrap="square" lIns="0" tIns="0" rIns="0" bIns="0" rtlCol="0" anchor="t"/>
          <a:lstStyle/>
          <a:p>
            <a:pPr marL="0" indent="0">
              <a:lnSpc>
                <a:spcPct val="125000"/>
              </a:lnSpc>
              <a:buNone/>
            </a:pPr>
            <a:r>
              <a:rPr lang="en-US" sz="1200" dirty="0">
                <a:solidFill>
                  <a:srgbClr val="C9C2B8"/>
                </a:solidFill>
                <a:latin typeface="Calibri" pitchFamily="34" charset="0"/>
                <a:ea typeface="Calibri" pitchFamily="34" charset="-122"/>
                <a:cs typeface="Calibri" pitchFamily="34" charset="-120"/>
              </a:rPr>
              <a:t>Solution: Added an editable preview and disclaimer before any content is used</a:t>
            </a:r>
            <a:endParaRPr lang="en-US" sz="1200" dirty="0"/>
          </a:p>
        </p:txBody>
      </p:sp>
      <p:sp>
        <p:nvSpPr>
          <p:cNvPr id="15" name="Text 13"/>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C9C2B8"/>
                </a:solidFill>
                <a:latin typeface="Calibri" pitchFamily="34" charset="0"/>
                <a:ea typeface="Calibri" pitchFamily="34" charset="-122"/>
                <a:cs typeface="Calibri" pitchFamily="34" charset="-120"/>
              </a:rPr>
              <a:t>Flowdesk  |  CAPACITI AI Skills Acceleration Programme</a:t>
            </a:r>
            <a:endParaRPr lang="en-US" sz="900" dirty="0"/>
          </a:p>
        </p:txBody>
      </p:sp>
      <p:sp>
        <p:nvSpPr>
          <p:cNvPr id="16" name="Text 14"/>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00" dirty="0">
                <a:solidFill>
                  <a:srgbClr val="C9C2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FE9"/>
        </a:solidFill>
        <a:effectLst/>
      </p:bgPr>
    </p:bg>
    <p:spTree>
      <p:nvGrpSpPr>
        <p:cNvPr id="1" name=""/>
        <p:cNvGrpSpPr/>
        <p:nvPr/>
      </p:nvGrpSpPr>
      <p:grpSpPr>
        <a:xfrm>
          <a:off x="0" y="0"/>
          <a:ext cx="0" cy="0"/>
          <a:chOff x="0" y="0"/>
          <a:chExt cx="0" cy="0"/>
        </a:xfrm>
      </p:grpSpPr>
      <p:sp>
        <p:nvSpPr>
          <p:cNvPr id="2" name="Shape 0"/>
          <p:cNvSpPr/>
          <p:nvPr/>
        </p:nvSpPr>
        <p:spPr>
          <a:xfrm>
            <a:off x="10403840" y="-1796527"/>
            <a:ext cx="3840480" cy="3840480"/>
          </a:xfrm>
          <a:prstGeom prst="ellipse">
            <a:avLst/>
          </a:prstGeom>
          <a:solidFill>
            <a:srgbClr val="E97132">
              <a:alpha val="12000"/>
            </a:srgbClr>
          </a:solidFill>
          <a:ln/>
        </p:spPr>
        <p:txBody>
          <a:bodyPr/>
          <a:lstStyle/>
          <a:p>
            <a:endParaRPr lang="en-US"/>
          </a:p>
        </p:txBody>
      </p:sp>
      <p:sp>
        <p:nvSpPr>
          <p:cNvPr id="3" name="Text 1"/>
          <p:cNvSpPr/>
          <p:nvPr/>
        </p:nvSpPr>
        <p:spPr>
          <a:xfrm>
            <a:off x="599296" y="2889922"/>
            <a:ext cx="9144000" cy="1446104"/>
          </a:xfrm>
          <a:prstGeom prst="rect">
            <a:avLst/>
          </a:prstGeom>
          <a:noFill/>
          <a:ln/>
        </p:spPr>
        <p:txBody>
          <a:bodyPr wrap="square" lIns="0" tIns="0" rIns="0" bIns="0" rtlCol="0" anchor="ctr"/>
          <a:lstStyle/>
          <a:p>
            <a:pPr marL="0" indent="0">
              <a:buNone/>
            </a:pPr>
            <a:r>
              <a:rPr lang="en-US" sz="4400" b="1" dirty="0">
                <a:solidFill>
                  <a:srgbClr val="2B241F"/>
                </a:solidFill>
                <a:latin typeface="Calibri" pitchFamily="34" charset="0"/>
                <a:ea typeface="Calibri" pitchFamily="34" charset="-122"/>
                <a:cs typeface="Calibri" pitchFamily="34" charset="-120"/>
              </a:rPr>
              <a:t>Live Demo</a:t>
            </a:r>
            <a:endParaRPr lang="en-US" sz="4400" dirty="0"/>
          </a:p>
        </p:txBody>
      </p:sp>
      <p:sp>
        <p:nvSpPr>
          <p:cNvPr id="5" name="Text 3"/>
          <p:cNvSpPr/>
          <p:nvPr/>
        </p:nvSpPr>
        <p:spPr>
          <a:xfrm>
            <a:off x="868680" y="5943600"/>
            <a:ext cx="9601200" cy="365760"/>
          </a:xfrm>
          <a:prstGeom prst="rect">
            <a:avLst/>
          </a:prstGeom>
          <a:noFill/>
          <a:ln/>
        </p:spPr>
        <p:txBody>
          <a:bodyPr wrap="square" lIns="0" tIns="0" rIns="0" bIns="0" rtlCol="0" anchor="ctr"/>
          <a:lstStyle/>
          <a:p>
            <a:r>
              <a:rPr lang="en-US" sz="1300" dirty="0">
                <a:solidFill>
                  <a:srgbClr val="8C8378"/>
                </a:solidFill>
                <a:latin typeface="Calibri" pitchFamily="34" charset="0"/>
                <a:ea typeface="Calibri" pitchFamily="34" charset="-122"/>
                <a:cs typeface="Calibri" pitchFamily="34" charset="-120"/>
              </a:rPr>
              <a:t>GitHub: https://github.com/XabisoMemani/flowdesk-ai-assistant   |   Live app: https://flowdesk-ai-xabiso.lovable.app/</a:t>
            </a:r>
            <a:endParaRPr lang="en-US" sz="1300" dirty="0"/>
          </a:p>
        </p:txBody>
      </p:sp>
      <p:sp>
        <p:nvSpPr>
          <p:cNvPr id="6" name="Text 4"/>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8C8378"/>
                </a:solidFill>
                <a:latin typeface="Calibri" pitchFamily="34" charset="0"/>
                <a:ea typeface="Calibri" pitchFamily="34" charset="-122"/>
                <a:cs typeface="Calibri" pitchFamily="34" charset="-120"/>
              </a:rPr>
              <a:t>Flowdesk  |  CAPACITI AI Skills Acceleration Programme</a:t>
            </a:r>
            <a:endParaRPr lang="en-US" sz="900" dirty="0"/>
          </a:p>
        </p:txBody>
      </p:sp>
      <p:sp>
        <p:nvSpPr>
          <p:cNvPr id="7" name="Text 5"/>
          <p:cNvSpPr/>
          <p:nvPr/>
        </p:nvSpPr>
        <p:spPr>
          <a:xfrm>
            <a:off x="11521440" y="6537960"/>
            <a:ext cx="457200" cy="274320"/>
          </a:xfrm>
          <a:prstGeom prst="rect">
            <a:avLst/>
          </a:prstGeom>
          <a:noFill/>
          <a:ln/>
        </p:spPr>
        <p:txBody>
          <a:bodyPr wrap="square" lIns="0" tIns="0" rIns="0" bIns="0" rtlCol="0" anchor="ctr"/>
          <a:lstStyle/>
          <a:p>
            <a:pPr marL="0" indent="0" algn="r">
              <a:buNone/>
            </a:pPr>
            <a:r>
              <a:rPr lang="en-US" sz="900" dirty="0">
                <a:solidFill>
                  <a:srgbClr val="8C8378"/>
                </a:solidFill>
                <a:latin typeface="Calibri" pitchFamily="34" charset="0"/>
                <a:ea typeface="Calibri" pitchFamily="34" charset="-122"/>
                <a:cs typeface="Calibri" pitchFamily="34" charset="-120"/>
              </a:rPr>
              <a:t>9</a:t>
            </a:r>
            <a:endParaRPr lang="en-US" sz="900" dirty="0"/>
          </a:p>
        </p:txBody>
      </p:sp>
      <p:pic>
        <p:nvPicPr>
          <p:cNvPr id="9" name="Picture 8">
            <a:extLst>
              <a:ext uri="{FF2B5EF4-FFF2-40B4-BE49-F238E27FC236}">
                <a16:creationId xmlns:a16="http://schemas.microsoft.com/office/drawing/2014/main" id="{12B26249-C53D-43FC-E228-66462A15F897}"/>
              </a:ext>
            </a:extLst>
          </p:cNvPr>
          <p:cNvPicPr>
            <a:picLocks noChangeAspect="1"/>
          </p:cNvPicPr>
          <p:nvPr/>
        </p:nvPicPr>
        <p:blipFill>
          <a:blip r:embed="rId3"/>
          <a:stretch>
            <a:fillRect/>
          </a:stretch>
        </p:blipFill>
        <p:spPr>
          <a:xfrm>
            <a:off x="3241889" y="709321"/>
            <a:ext cx="8352464" cy="500567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723</Words>
  <Application>Microsoft Office PowerPoint</Application>
  <PresentationFormat>Widescreen</PresentationFormat>
  <Paragraphs>95</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Xabiso Memani</cp:lastModifiedBy>
  <cp:revision>2</cp:revision>
  <dcterms:created xsi:type="dcterms:W3CDTF">2026-07-17T07:01:54Z</dcterms:created>
  <dcterms:modified xsi:type="dcterms:W3CDTF">2026-07-17T07:37:24Z</dcterms:modified>
</cp:coreProperties>
</file>